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19" roundtripDataSignature="AMtx7mj/kESu87qxX+bQh7hRLotjm47vQ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9CCCC089-EB60-40D3-A03B-A1304DFD6F5D}">
  <a:tblStyle styleId="{9CCCC089-EB60-40D3-A03B-A1304DFD6F5D}" styleName="Table_0">
    <a:wholeTbl>
      <a:tcTxStyle b="off" i="off">
        <a:font>
          <a:latin typeface="Arial"/>
          <a:ea typeface="Arial"/>
          <a:cs typeface="Arial"/>
        </a:font>
        <a:srgbClr val="000000"/>
      </a:tcTx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5" Type="http://schemas.openxmlformats.org/officeDocument/2006/relationships/notesMaster" Target="notesMasters/notesMaster1.xml"/><Relationship Id="rId19" Type="http://customschemas.google.com/relationships/presentationmetadata" Target="metadata"/><Relationship Id="rId6" Type="http://schemas.openxmlformats.org/officeDocument/2006/relationships/slide" Target="slides/slide1.xml"/><Relationship Id="rId18" Type="http://schemas.openxmlformats.org/officeDocument/2006/relationships/slide" Target="slides/slide13.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 name="Shape 74"/>
        <p:cNvGrpSpPr/>
        <p:nvPr/>
      </p:nvGrpSpPr>
      <p:grpSpPr>
        <a:xfrm>
          <a:off x="0" y="0"/>
          <a:ext cx="0" cy="0"/>
          <a:chOff x="0" y="0"/>
          <a:chExt cx="0" cy="0"/>
        </a:xfrm>
      </p:grpSpPr>
      <p:sp>
        <p:nvSpPr>
          <p:cNvPr id="75" name="Google Shape;75;p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3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82" name="Google Shape;82;p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p3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92" name="Google Shape;92;p3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p3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98" name="Google Shape;98;p3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p3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04" name="Google Shape;104;p3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p3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10" name="Google Shape;110;p3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g3f7f89cd584_0_1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18" name="Google Shape;118;g3f7f89cd584_0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p4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26" name="Google Shape;126;p4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p4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32" name="Google Shape;132;p4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p4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38" name="Google Shape;138;p4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p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7" name="Google Shape;147;p4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p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4" name="Google Shape;154;p4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p2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60" name="Google Shape;160;p2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1" name="Shape 11"/>
        <p:cNvGrpSpPr/>
        <p:nvPr/>
      </p:nvGrpSpPr>
      <p:grpSpPr>
        <a:xfrm>
          <a:off x="0" y="0"/>
          <a:ext cx="0" cy="0"/>
          <a:chOff x="0" y="0"/>
          <a:chExt cx="0" cy="0"/>
        </a:xfrm>
      </p:grpSpPr>
      <p:sp>
        <p:nvSpPr>
          <p:cNvPr id="12" name="Google Shape;12;p24"/>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 name="Google Shape;13;p24"/>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14" name="Google Shape;14;p2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 name="Google Shape;15;p2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6" name="Google Shape;16;p2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7" name="Shape 17"/>
        <p:cNvGrpSpPr/>
        <p:nvPr/>
      </p:nvGrpSpPr>
      <p:grpSpPr>
        <a:xfrm>
          <a:off x="0" y="0"/>
          <a:ext cx="0" cy="0"/>
          <a:chOff x="0" y="0"/>
          <a:chExt cx="0" cy="0"/>
        </a:xfrm>
      </p:grpSpPr>
      <p:sp>
        <p:nvSpPr>
          <p:cNvPr id="18" name="Google Shape;18;p2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23"/>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0" name="Google Shape;20;p2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1" name="Google Shape;21;p2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2" name="Google Shape;22;p2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23" name="Shape 23"/>
        <p:cNvGrpSpPr/>
        <p:nvPr/>
      </p:nvGrpSpPr>
      <p:grpSpPr>
        <a:xfrm>
          <a:off x="0" y="0"/>
          <a:ext cx="0" cy="0"/>
          <a:chOff x="0" y="0"/>
          <a:chExt cx="0" cy="0"/>
        </a:xfrm>
      </p:grpSpPr>
      <p:sp>
        <p:nvSpPr>
          <p:cNvPr id="24" name="Google Shape;24;p2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25"/>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6" name="Google Shape;26;p25"/>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7" name="Google Shape;27;p2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8" name="Google Shape;28;p2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2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30" name="Shape 30"/>
        <p:cNvGrpSpPr/>
        <p:nvPr/>
      </p:nvGrpSpPr>
      <p:grpSpPr>
        <a:xfrm>
          <a:off x="0" y="0"/>
          <a:ext cx="0" cy="0"/>
          <a:chOff x="0" y="0"/>
          <a:chExt cx="0" cy="0"/>
        </a:xfrm>
      </p:grpSpPr>
      <p:sp>
        <p:nvSpPr>
          <p:cNvPr id="31" name="Google Shape;31;p26"/>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 name="Google Shape;32;p26"/>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33" name="Google Shape;33;p26"/>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4" name="Google Shape;34;p26"/>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35" name="Google Shape;35;p26"/>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6" name="Google Shape;36;p2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7" name="Google Shape;37;p2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2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9" name="Shape 39"/>
        <p:cNvGrpSpPr/>
        <p:nvPr/>
      </p:nvGrpSpPr>
      <p:grpSpPr>
        <a:xfrm>
          <a:off x="0" y="0"/>
          <a:ext cx="0" cy="0"/>
          <a:chOff x="0" y="0"/>
          <a:chExt cx="0" cy="0"/>
        </a:xfrm>
      </p:grpSpPr>
      <p:sp>
        <p:nvSpPr>
          <p:cNvPr id="40" name="Google Shape;40;p2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1" name="Google Shape;41;p2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2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3" name="Google Shape;43;p2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4" name="Shape 44"/>
        <p:cNvGrpSpPr/>
        <p:nvPr/>
      </p:nvGrpSpPr>
      <p:grpSpPr>
        <a:xfrm>
          <a:off x="0" y="0"/>
          <a:ext cx="0" cy="0"/>
          <a:chOff x="0" y="0"/>
          <a:chExt cx="0" cy="0"/>
        </a:xfrm>
      </p:grpSpPr>
      <p:sp>
        <p:nvSpPr>
          <p:cNvPr id="45" name="Google Shape;45;p2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6" name="Google Shape;46;p2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 name="Google Shape;47;p2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48" name="Shape 48"/>
        <p:cNvGrpSpPr/>
        <p:nvPr/>
      </p:nvGrpSpPr>
      <p:grpSpPr>
        <a:xfrm>
          <a:off x="0" y="0"/>
          <a:ext cx="0" cy="0"/>
          <a:chOff x="0" y="0"/>
          <a:chExt cx="0" cy="0"/>
        </a:xfrm>
      </p:grpSpPr>
      <p:sp>
        <p:nvSpPr>
          <p:cNvPr id="49" name="Google Shape;49;p29"/>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0" name="Google Shape;50;p29"/>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51" name="Google Shape;51;p29"/>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52" name="Google Shape;52;p2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2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4" name="Google Shape;54;p2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55" name="Shape 55"/>
        <p:cNvGrpSpPr/>
        <p:nvPr/>
      </p:nvGrpSpPr>
      <p:grpSpPr>
        <a:xfrm>
          <a:off x="0" y="0"/>
          <a:ext cx="0" cy="0"/>
          <a:chOff x="0" y="0"/>
          <a:chExt cx="0" cy="0"/>
        </a:xfrm>
      </p:grpSpPr>
      <p:sp>
        <p:nvSpPr>
          <p:cNvPr id="56" name="Google Shape;56;p30"/>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7" name="Google Shape;57;p30"/>
          <p:cNvSpPr/>
          <p:nvPr>
            <p:ph idx="2" type="pic"/>
          </p:nvPr>
        </p:nvSpPr>
        <p:spPr>
          <a:xfrm>
            <a:off x="5183188" y="987425"/>
            <a:ext cx="6172200" cy="4873625"/>
          </a:xfrm>
          <a:prstGeom prst="rect">
            <a:avLst/>
          </a:prstGeom>
          <a:noFill/>
          <a:ln>
            <a:noFill/>
          </a:ln>
        </p:spPr>
      </p:sp>
      <p:sp>
        <p:nvSpPr>
          <p:cNvPr id="58" name="Google Shape;58;p30"/>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59" name="Google Shape;59;p3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3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1" name="Google Shape;61;p3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2" name="Shape 62"/>
        <p:cNvGrpSpPr/>
        <p:nvPr/>
      </p:nvGrpSpPr>
      <p:grpSpPr>
        <a:xfrm>
          <a:off x="0" y="0"/>
          <a:ext cx="0" cy="0"/>
          <a:chOff x="0" y="0"/>
          <a:chExt cx="0" cy="0"/>
        </a:xfrm>
      </p:grpSpPr>
      <p:sp>
        <p:nvSpPr>
          <p:cNvPr id="63" name="Google Shape;63;p3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4" name="Google Shape;64;p31"/>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5" name="Google Shape;65;p3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6" name="Google Shape;66;p3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3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68" name="Shape 68"/>
        <p:cNvGrpSpPr/>
        <p:nvPr/>
      </p:nvGrpSpPr>
      <p:grpSpPr>
        <a:xfrm>
          <a:off x="0" y="0"/>
          <a:ext cx="0" cy="0"/>
          <a:chOff x="0" y="0"/>
          <a:chExt cx="0" cy="0"/>
        </a:xfrm>
      </p:grpSpPr>
      <p:sp>
        <p:nvSpPr>
          <p:cNvPr id="69" name="Google Shape;69;p32"/>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32"/>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1" name="Google Shape;71;p3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2" name="Google Shape;72;p3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3" name="Google Shape;73;p3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theme" Target="../theme/theme1.xml"/><Relationship Id="rId10" Type="http://schemas.openxmlformats.org/officeDocument/2006/relationships/slideLayout" Target="../slideLayouts/slideLayout10.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2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7" name="Google Shape;7;p21"/>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8" name="Google Shape;8;p2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9" name="Google Shape;9;p2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0" name="Google Shape;10;p2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12.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11.png"/><Relationship Id="rId4" Type="http://schemas.openxmlformats.org/officeDocument/2006/relationships/image" Target="../media/image7.png"/><Relationship Id="rId5" Type="http://schemas.openxmlformats.org/officeDocument/2006/relationships/image" Target="../media/image8.png"/><Relationship Id="rId6"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4.png"/><Relationship Id="rId4" Type="http://schemas.openxmlformats.org/officeDocument/2006/relationships/image" Target="../media/image6.png"/><Relationship Id="rId5" Type="http://schemas.openxmlformats.org/officeDocument/2006/relationships/image" Target="../media/image10.png"/><Relationship Id="rId6"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hyperlink" Target="https://github.com/bhadra-unni/AI-powered_Nutrition-agent.git"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9.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 name="Shape 77"/>
        <p:cNvGrpSpPr/>
        <p:nvPr/>
      </p:nvGrpSpPr>
      <p:grpSpPr>
        <a:xfrm>
          <a:off x="0" y="0"/>
          <a:ext cx="0" cy="0"/>
          <a:chOff x="0" y="0"/>
          <a:chExt cx="0" cy="0"/>
        </a:xfrm>
      </p:grpSpPr>
      <p:sp>
        <p:nvSpPr>
          <p:cNvPr id="78" name="Google Shape;78;p33"/>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p>
            <a:pPr indent="0" lvl="0" marL="0" rtl="0" algn="ctr">
              <a:lnSpc>
                <a:spcPct val="90000"/>
              </a:lnSpc>
              <a:spcBef>
                <a:spcPts val="0"/>
              </a:spcBef>
              <a:spcAft>
                <a:spcPts val="0"/>
              </a:spcAft>
              <a:buSzPts val="6000"/>
              <a:buNone/>
            </a:pPr>
            <a:r>
              <a:rPr b="1" lang="en-US" sz="6600"/>
              <a:t>IBM University Engagement Project Submission</a:t>
            </a:r>
            <a:br>
              <a:rPr b="1" lang="en-US"/>
            </a:br>
            <a:endParaRPr/>
          </a:p>
        </p:txBody>
      </p:sp>
      <p:sp>
        <p:nvSpPr>
          <p:cNvPr id="79" name="Google Shape;79;p33"/>
          <p:cNvSpPr txBox="1"/>
          <p:nvPr>
            <p:ph idx="1" type="body"/>
          </p:nvPr>
        </p:nvSpPr>
        <p:spPr>
          <a:xfrm>
            <a:off x="1014730" y="3903663"/>
            <a:ext cx="10515600" cy="1500187"/>
          </a:xfrm>
          <a:prstGeom prst="rect">
            <a:avLst/>
          </a:prstGeom>
          <a:noFill/>
          <a:ln>
            <a:noFill/>
          </a:ln>
        </p:spPr>
        <p:txBody>
          <a:bodyPr anchorCtr="0" anchor="t" bIns="45700" lIns="91425" spcFirstLastPara="1" rIns="91425" wrap="square" tIns="45700">
            <a:normAutofit/>
          </a:bodyPr>
          <a:lstStyle/>
          <a:p>
            <a:pPr indent="-228600" lvl="0" marL="457200" rtl="0" algn="ctr">
              <a:lnSpc>
                <a:spcPct val="90000"/>
              </a:lnSpc>
              <a:spcBef>
                <a:spcPts val="1000"/>
              </a:spcBef>
              <a:spcAft>
                <a:spcPts val="0"/>
              </a:spcAft>
              <a:buSzPts val="2400"/>
              <a:buNone/>
            </a:pPr>
            <a:r>
              <a:rPr b="1" i="1" lang="en-US"/>
              <a:t>“Exploring the Power of Agentic AI with IBM Granite and LangFlow”</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2"/>
          <p:cNvSpPr/>
          <p:nvPr/>
        </p:nvSpPr>
        <p:spPr>
          <a:xfrm>
            <a:off x="690624" y="4425370"/>
            <a:ext cx="10795794" cy="199230"/>
          </a:xfrm>
          <a:prstGeom prst="rect">
            <a:avLst/>
          </a:prstGeom>
          <a:noFill/>
          <a:ln>
            <a:noFill/>
          </a:ln>
        </p:spPr>
        <p:txBody>
          <a:bodyPr anchorCtr="0" anchor="t" bIns="0" lIns="0" spcFirstLastPara="1" rIns="0" wrap="square" tIns="0">
            <a:noAutofit/>
          </a:bodyPr>
          <a:lstStyle/>
          <a:p>
            <a:pPr indent="0" lvl="0" marL="0" marR="0" rtl="0" algn="l">
              <a:lnSpc>
                <a:spcPct val="160000"/>
              </a:lnSpc>
              <a:spcBef>
                <a:spcPts val="0"/>
              </a:spcBef>
              <a:spcAft>
                <a:spcPts val="0"/>
              </a:spcAft>
              <a:buClr>
                <a:schemeClr val="dk1"/>
              </a:buClr>
              <a:buSzPts val="1500"/>
              <a:buFont typeface="Calibri"/>
              <a:buNone/>
            </a:pPr>
            <a:r>
              <a:t/>
            </a:r>
            <a:endParaRPr b="0" i="0" sz="1500" u="none" cap="none" strike="noStrike">
              <a:solidFill>
                <a:schemeClr val="dk1"/>
              </a:solidFill>
              <a:latin typeface="Times New Roman"/>
              <a:ea typeface="Times New Roman"/>
              <a:cs typeface="Times New Roman"/>
              <a:sym typeface="Times New Roman"/>
            </a:endParaRPr>
          </a:p>
        </p:txBody>
      </p:sp>
      <p:sp>
        <p:nvSpPr>
          <p:cNvPr id="85" name="Google Shape;85;p2"/>
          <p:cNvSpPr txBox="1"/>
          <p:nvPr/>
        </p:nvSpPr>
        <p:spPr>
          <a:xfrm>
            <a:off x="1102321" y="1174639"/>
            <a:ext cx="7426406" cy="451519"/>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002060"/>
              </a:buClr>
              <a:buSzPts val="3200"/>
              <a:buFont typeface="Times New Roman"/>
              <a:buNone/>
            </a:pPr>
            <a:r>
              <a:t/>
            </a:r>
            <a:endParaRPr b="1" i="0" sz="3200" u="none" cap="none" strike="noStrike">
              <a:solidFill>
                <a:srgbClr val="002060"/>
              </a:solidFill>
              <a:latin typeface="Times New Roman"/>
              <a:ea typeface="Times New Roman"/>
              <a:cs typeface="Times New Roman"/>
              <a:sym typeface="Times New Roman"/>
            </a:endParaRPr>
          </a:p>
        </p:txBody>
      </p:sp>
      <p:graphicFrame>
        <p:nvGraphicFramePr>
          <p:cNvPr id="86" name="Google Shape;86;p2"/>
          <p:cNvGraphicFramePr/>
          <p:nvPr/>
        </p:nvGraphicFramePr>
        <p:xfrm>
          <a:off x="1299257" y="2600315"/>
          <a:ext cx="3000000" cy="3000000"/>
        </p:xfrm>
        <a:graphic>
          <a:graphicData uri="http://schemas.openxmlformats.org/drawingml/2006/table">
            <a:tbl>
              <a:tblPr>
                <a:noFill/>
                <a:tableStyleId>{9CCCC089-EB60-40D3-A03B-A1304DFD6F5D}</a:tableStyleId>
              </a:tblPr>
              <a:tblGrid>
                <a:gridCol w="2064875"/>
                <a:gridCol w="2443375"/>
                <a:gridCol w="2443375"/>
                <a:gridCol w="2443375"/>
              </a:tblGrid>
              <a:tr h="973225">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t>Student Name</a:t>
                      </a:r>
                      <a:endParaRPr sz="1800" u="none" cap="none" strike="noStrike"/>
                    </a:p>
                  </a:txBody>
                  <a:tcPr marT="45725" marB="45725" marR="91450" marL="91450" anchor="ctr">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5B9BD5"/>
                    </a:solidFill>
                  </a:tcPr>
                </a:tc>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t>Recent Passport Photo</a:t>
                      </a:r>
                      <a:endParaRPr sz="1800" u="none" cap="none" strike="noStrike"/>
                    </a:p>
                  </a:txBody>
                  <a:tcPr marT="45725" marB="45725" marR="91450" marL="91450" anchor="ctr">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5B9BD5"/>
                    </a:solidFill>
                  </a:tcPr>
                </a:tc>
                <a:tc>
                  <a:txBody>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Email ID </a:t>
                      </a:r>
                      <a:endParaRPr b="0" i="0" sz="1800" u="none" cap="none" strike="noStrike">
                        <a:solidFill>
                          <a:srgbClr val="000000"/>
                        </a:solidFill>
                        <a:latin typeface="Arial"/>
                        <a:ea typeface="Arial"/>
                        <a:cs typeface="Arial"/>
                        <a:sym typeface="Arial"/>
                      </a:endParaRPr>
                    </a:p>
                  </a:txBody>
                  <a:tcPr marT="45725" marB="45725" marR="91450" marL="91450" anchor="ctr">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5B9BD5"/>
                    </a:solidFill>
                  </a:tcPr>
                </a:tc>
                <a:tc>
                  <a:txBody>
                    <a:bodyPr/>
                    <a:lstStyle/>
                    <a:p>
                      <a:pPr indent="0" lvl="0" marL="0" marR="0" rtl="0" algn="ctr">
                        <a:lnSpc>
                          <a:spcPct val="100000"/>
                        </a:lnSpc>
                        <a:spcBef>
                          <a:spcPts val="0"/>
                        </a:spcBef>
                        <a:spcAft>
                          <a:spcPts val="0"/>
                        </a:spcAft>
                        <a:buClr>
                          <a:schemeClr val="lt1"/>
                        </a:buClr>
                        <a:buSzPts val="1800"/>
                        <a:buFont typeface="Calibri"/>
                        <a:buNone/>
                      </a:pPr>
                      <a:r>
                        <a:rPr b="0" i="0" lang="en-US" sz="1800" u="none" cap="none" strike="noStrike">
                          <a:solidFill>
                            <a:srgbClr val="000000"/>
                          </a:solidFill>
                          <a:latin typeface="Arial"/>
                          <a:ea typeface="Arial"/>
                          <a:cs typeface="Arial"/>
                          <a:sym typeface="Arial"/>
                        </a:rPr>
                        <a:t>Mobile number</a:t>
                      </a:r>
                      <a:endParaRPr b="0" i="0" sz="18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chemeClr val="lt1"/>
                        </a:buClr>
                        <a:buSzPts val="1800"/>
                        <a:buFont typeface="Calibri"/>
                        <a:buNone/>
                      </a:pPr>
                      <a:r>
                        <a:rPr b="0" i="0" lang="en-US" sz="1800" u="none" cap="none" strike="noStrike">
                          <a:solidFill>
                            <a:srgbClr val="000000"/>
                          </a:solidFill>
                          <a:latin typeface="Arial"/>
                          <a:ea typeface="Arial"/>
                          <a:cs typeface="Arial"/>
                          <a:sym typeface="Arial"/>
                        </a:rPr>
                        <a:t>[WhatsApp] </a:t>
                      </a:r>
                      <a:endParaRPr b="0" i="0" sz="1800" u="none" cap="none" strike="noStrike">
                        <a:solidFill>
                          <a:srgbClr val="000000"/>
                        </a:solidFill>
                        <a:latin typeface="Arial"/>
                        <a:ea typeface="Arial"/>
                        <a:cs typeface="Arial"/>
                        <a:sym typeface="Arial"/>
                      </a:endParaRPr>
                    </a:p>
                  </a:txBody>
                  <a:tcPr marT="45725" marB="45725" marR="91450" marL="91450" anchor="ctr">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5B9BD5"/>
                    </a:solidFill>
                  </a:tcPr>
                </a:tc>
              </a:tr>
              <a:tr h="1193900">
                <a:tc>
                  <a:txBody>
                    <a:bodyPr/>
                    <a:lstStyle/>
                    <a:p>
                      <a:pPr indent="0" lvl="0" marL="0" marR="0" rtl="0" algn="ctr">
                        <a:lnSpc>
                          <a:spcPct val="100000"/>
                        </a:lnSpc>
                        <a:spcBef>
                          <a:spcPts val="0"/>
                        </a:spcBef>
                        <a:spcAft>
                          <a:spcPts val="0"/>
                        </a:spcAft>
                        <a:buClr>
                          <a:srgbClr val="000000"/>
                        </a:buClr>
                        <a:buSzPts val="1400"/>
                        <a:buFont typeface="Arial"/>
                        <a:buNone/>
                      </a:pPr>
                      <a:r>
                        <a:rPr lang="en-US" sz="2000"/>
                        <a:t>Bhadra M U</a:t>
                      </a:r>
                      <a:endParaRPr sz="2000" u="none" cap="none" strike="noStrike"/>
                    </a:p>
                  </a:txBody>
                  <a:tcPr marT="45725" marB="45725" marR="91450" marL="91450" anchor="ctr">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381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D0DEEF"/>
                    </a:solidFill>
                  </a:tcPr>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381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D0DEEF"/>
                    </a:solidFill>
                  </a:tcPr>
                </a:tc>
                <a:tc>
                  <a:txBody>
                    <a:bodyPr/>
                    <a:lstStyle/>
                    <a:p>
                      <a:pPr indent="0" lvl="0" marL="0" marR="0" rtl="0" algn="ctr">
                        <a:lnSpc>
                          <a:spcPct val="100000"/>
                        </a:lnSpc>
                        <a:spcBef>
                          <a:spcPts val="0"/>
                        </a:spcBef>
                        <a:spcAft>
                          <a:spcPts val="0"/>
                        </a:spcAft>
                        <a:buClr>
                          <a:srgbClr val="000000"/>
                        </a:buClr>
                        <a:buSzPts val="1400"/>
                        <a:buFont typeface="Arial"/>
                        <a:buNone/>
                      </a:pPr>
                      <a:r>
                        <a:rPr lang="en-US" sz="2000"/>
                        <a:t>bhadraunnim@gmail.com</a:t>
                      </a:r>
                      <a:endParaRPr sz="2000" u="none" cap="none" strike="noStrike"/>
                    </a:p>
                  </a:txBody>
                  <a:tcPr marT="45725" marB="45725" marR="91450" marL="91450" anchor="ctr">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381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D0DEEF"/>
                    </a:solidFill>
                  </a:tcPr>
                </a:tc>
                <a:tc>
                  <a:txBody>
                    <a:bodyPr/>
                    <a:lstStyle/>
                    <a:p>
                      <a:pPr indent="0" lvl="0" marL="0" marR="0" rtl="0" algn="ctr">
                        <a:lnSpc>
                          <a:spcPct val="100000"/>
                        </a:lnSpc>
                        <a:spcBef>
                          <a:spcPts val="0"/>
                        </a:spcBef>
                        <a:spcAft>
                          <a:spcPts val="0"/>
                        </a:spcAft>
                        <a:buClr>
                          <a:srgbClr val="000000"/>
                        </a:buClr>
                        <a:buSzPts val="1400"/>
                        <a:buFont typeface="Arial"/>
                        <a:buNone/>
                      </a:pPr>
                      <a:r>
                        <a:rPr lang="en-US" sz="2000"/>
                        <a:t>9656449628</a:t>
                      </a:r>
                      <a:endParaRPr sz="2000" u="none" cap="none" strike="noStrike"/>
                    </a:p>
                  </a:txBody>
                  <a:tcPr marT="45725" marB="45725" marR="91450" marL="91450" anchor="ctr">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381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D0DEEF"/>
                    </a:solidFill>
                  </a:tcPr>
                </a:tc>
              </a:tr>
            </a:tbl>
          </a:graphicData>
        </a:graphic>
      </p:graphicFrame>
      <p:pic>
        <p:nvPicPr>
          <p:cNvPr id="87" name="Google Shape;87;p2" title="1000269916.jpg"/>
          <p:cNvPicPr preferRelativeResize="0"/>
          <p:nvPr/>
        </p:nvPicPr>
        <p:blipFill rotWithShape="1">
          <a:blip r:embed="rId3">
            <a:alphaModFix/>
          </a:blip>
          <a:srcRect b="6100" l="0" r="0" t="-6100"/>
          <a:stretch/>
        </p:blipFill>
        <p:spPr>
          <a:xfrm>
            <a:off x="4053025" y="3648925"/>
            <a:ext cx="762500" cy="980800"/>
          </a:xfrm>
          <a:prstGeom prst="rect">
            <a:avLst/>
          </a:prstGeom>
          <a:noFill/>
          <a:ln>
            <a:noFill/>
          </a:ln>
        </p:spPr>
      </p:pic>
      <p:sp>
        <p:nvSpPr>
          <p:cNvPr id="88" name="Google Shape;88;p2"/>
          <p:cNvSpPr txBox="1"/>
          <p:nvPr/>
        </p:nvSpPr>
        <p:spPr>
          <a:xfrm>
            <a:off x="1206164" y="1460724"/>
            <a:ext cx="10280254"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2400" u="none" cap="none" strike="noStrike">
                <a:solidFill>
                  <a:srgbClr val="000000"/>
                </a:solidFill>
                <a:latin typeface="Arial"/>
                <a:ea typeface="Arial"/>
                <a:cs typeface="Arial"/>
                <a:sym typeface="Arial"/>
              </a:rPr>
              <a:t>Domain of  Project – Healthcare</a:t>
            </a:r>
            <a:endParaRPr b="1" i="0" sz="2400" u="none" cap="none" strike="noStrike">
              <a:solidFill>
                <a:srgbClr val="000000"/>
              </a:solidFill>
              <a:latin typeface="Arial"/>
              <a:ea typeface="Arial"/>
              <a:cs typeface="Arial"/>
              <a:sym typeface="Arial"/>
            </a:endParaRPr>
          </a:p>
        </p:txBody>
      </p:sp>
      <p:sp>
        <p:nvSpPr>
          <p:cNvPr id="89" name="Google Shape;89;p2"/>
          <p:cNvSpPr txBox="1"/>
          <p:nvPr/>
        </p:nvSpPr>
        <p:spPr>
          <a:xfrm>
            <a:off x="1206162" y="551965"/>
            <a:ext cx="9581177"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2400" u="none" cap="none" strike="noStrike">
                <a:solidFill>
                  <a:srgbClr val="000000"/>
                </a:solidFill>
                <a:latin typeface="Arial"/>
                <a:ea typeface="Arial"/>
                <a:cs typeface="Arial"/>
                <a:sym typeface="Arial"/>
              </a:rPr>
              <a:t>Project Title –</a:t>
            </a:r>
            <a:r>
              <a:rPr b="1" lang="en-US" sz="2400"/>
              <a:t> AI-powered Nutrition Agent</a:t>
            </a:r>
            <a:endParaRPr b="1" i="0" sz="2400" u="none" cap="none" strike="noStrike">
              <a:solidFill>
                <a:srgbClr val="000000"/>
              </a:solidFill>
              <a:highlight>
                <a:srgbClr val="FFFF00"/>
              </a:highlight>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 name="Shape 93"/>
        <p:cNvGrpSpPr/>
        <p:nvPr/>
      </p:nvGrpSpPr>
      <p:grpSpPr>
        <a:xfrm>
          <a:off x="0" y="0"/>
          <a:ext cx="0" cy="0"/>
          <a:chOff x="0" y="0"/>
          <a:chExt cx="0" cy="0"/>
        </a:xfrm>
      </p:grpSpPr>
      <p:sp>
        <p:nvSpPr>
          <p:cNvPr id="94" name="Google Shape;94;p34"/>
          <p:cNvSpPr txBox="1"/>
          <p:nvPr/>
        </p:nvSpPr>
        <p:spPr>
          <a:xfrm>
            <a:off x="576072" y="1234440"/>
            <a:ext cx="10607040" cy="504753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1400" u="none" cap="none" strike="noStrike">
                <a:solidFill>
                  <a:srgbClr val="000000"/>
                </a:solidFill>
                <a:latin typeface="Arial"/>
                <a:ea typeface="Arial"/>
                <a:cs typeface="Arial"/>
                <a:sym typeface="Arial"/>
              </a:rPr>
              <a:t>Problem Statement : Nutrition Agent</a:t>
            </a:r>
            <a:r>
              <a:rPr b="0" i="0" lang="en-US" sz="1400" u="none" cap="none" strike="noStrike">
                <a:solidFill>
                  <a:srgbClr val="000000"/>
                </a:solidFill>
                <a:latin typeface="Arial"/>
                <a:ea typeface="Arial"/>
                <a:cs typeface="Arial"/>
                <a:sym typeface="Arial"/>
              </a:rPr>
              <a:t> </a:t>
            </a:r>
            <a:endParaRPr/>
          </a:p>
          <a:p>
            <a:pPr indent="0" lvl="0" marL="0" marR="0" rtl="0" algn="l">
              <a:lnSpc>
                <a:spcPct val="100000"/>
              </a:lnSpc>
              <a:spcBef>
                <a:spcPts val="0"/>
              </a:spcBef>
              <a:spcAft>
                <a:spcPts val="0"/>
              </a:spcAft>
              <a:buNone/>
            </a:pPr>
            <a:r>
              <a:t/>
            </a:r>
            <a:endParaRPr b="1"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1" i="0" lang="en-US" sz="1400" u="none" cap="none" strike="noStrike">
                <a:solidFill>
                  <a:srgbClr val="000000"/>
                </a:solidFill>
                <a:latin typeface="Arial"/>
                <a:ea typeface="Arial"/>
                <a:cs typeface="Arial"/>
                <a:sym typeface="Arial"/>
              </a:rPr>
              <a:t>The Challenge</a:t>
            </a:r>
            <a:r>
              <a:rPr b="0" i="0" lang="en-US" sz="1400" u="none" cap="none" strike="noStrike">
                <a:solidFill>
                  <a:srgbClr val="000000"/>
                </a:solidFill>
                <a:latin typeface="Arial"/>
                <a:ea typeface="Arial"/>
                <a:cs typeface="Arial"/>
                <a:sym typeface="Arial"/>
              </a:rPr>
              <a:t> </a:t>
            </a:r>
            <a:endParaRPr/>
          </a:p>
          <a:p>
            <a:pPr indent="0" lvl="0" marL="0" marR="0" rtl="0" algn="l">
              <a:lnSpc>
                <a:spcPct val="100000"/>
              </a:lnSpc>
              <a:spcBef>
                <a:spcPts val="0"/>
              </a:spcBef>
              <a:spcAft>
                <a:spcPts val="0"/>
              </a:spcAft>
              <a:buNone/>
            </a:pPr>
            <a:r>
              <a:rPr b="0" i="0" lang="en-US" sz="1400" u="none" cap="none" strike="noStrike">
                <a:solidFill>
                  <a:srgbClr val="000000"/>
                </a:solidFill>
                <a:latin typeface="Arial"/>
                <a:ea typeface="Arial"/>
                <a:cs typeface="Arial"/>
                <a:sym typeface="Arial"/>
              </a:rPr>
              <a:t>Good nutrition is the foundation of health, but individuals often struggle with </a:t>
            </a:r>
            <a:r>
              <a:rPr b="1" i="0" lang="en-US" sz="1400" u="none" cap="none" strike="noStrike">
                <a:solidFill>
                  <a:srgbClr val="000000"/>
                </a:solidFill>
                <a:latin typeface="Arial"/>
                <a:ea typeface="Arial"/>
                <a:cs typeface="Arial"/>
                <a:sym typeface="Arial"/>
              </a:rPr>
              <a:t>diet planning, portion control, and tracking nutritional intake</a:t>
            </a:r>
            <a:r>
              <a:rPr b="0" i="0" lang="en-US" sz="1400" u="none" cap="none" strike="noStrike">
                <a:solidFill>
                  <a:srgbClr val="000000"/>
                </a:solidFill>
                <a:latin typeface="Arial"/>
                <a:ea typeface="Arial"/>
                <a:cs typeface="Arial"/>
                <a:sym typeface="Arial"/>
              </a:rPr>
              <a:t>. Information about healthy diets, disease-specific nutrition, and food composition is scattered across unreliable sources. Without </a:t>
            </a:r>
            <a:r>
              <a:rPr b="1" i="0" lang="en-US" sz="1400" u="none" cap="none" strike="noStrike">
                <a:solidFill>
                  <a:srgbClr val="000000"/>
                </a:solidFill>
                <a:latin typeface="Arial"/>
                <a:ea typeface="Arial"/>
                <a:cs typeface="Arial"/>
                <a:sym typeface="Arial"/>
              </a:rPr>
              <a:t>personalized, real-time guidance</a:t>
            </a:r>
            <a:r>
              <a:rPr b="0" i="0" lang="en-US" sz="1400" u="none" cap="none" strike="noStrike">
                <a:solidFill>
                  <a:srgbClr val="000000"/>
                </a:solidFill>
                <a:latin typeface="Arial"/>
                <a:ea typeface="Arial"/>
                <a:cs typeface="Arial"/>
                <a:sym typeface="Arial"/>
              </a:rPr>
              <a:t>, many fail to maintain balanced diets or make informed food choices. </a:t>
            </a:r>
            <a:endParaRPr/>
          </a:p>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1" i="0" lang="en-US" sz="1400" u="none" cap="none" strike="noStrike">
                <a:solidFill>
                  <a:srgbClr val="000000"/>
                </a:solidFill>
                <a:latin typeface="Arial"/>
                <a:ea typeface="Arial"/>
                <a:cs typeface="Arial"/>
                <a:sym typeface="Arial"/>
              </a:rPr>
              <a:t>The Objective</a:t>
            </a:r>
            <a:r>
              <a:rPr b="0" i="0" lang="en-US" sz="1400" u="none" cap="none" strike="noStrike">
                <a:solidFill>
                  <a:srgbClr val="000000"/>
                </a:solidFill>
                <a:latin typeface="Arial"/>
                <a:ea typeface="Arial"/>
                <a:cs typeface="Arial"/>
                <a:sym typeface="Arial"/>
              </a:rPr>
              <a:t> </a:t>
            </a:r>
            <a:endParaRPr/>
          </a:p>
          <a:p>
            <a:pPr indent="0" lvl="0" marL="0" marR="0" rtl="0" algn="l">
              <a:lnSpc>
                <a:spcPct val="100000"/>
              </a:lnSpc>
              <a:spcBef>
                <a:spcPts val="0"/>
              </a:spcBef>
              <a:spcAft>
                <a:spcPts val="0"/>
              </a:spcAft>
              <a:buNone/>
            </a:pPr>
            <a:r>
              <a:rPr b="0" i="0" lang="en-US" sz="1400" u="none" cap="none" strike="noStrike">
                <a:solidFill>
                  <a:srgbClr val="000000"/>
                </a:solidFill>
                <a:latin typeface="Arial"/>
                <a:ea typeface="Arial"/>
                <a:cs typeface="Arial"/>
                <a:sym typeface="Arial"/>
              </a:rPr>
              <a:t>Build an </a:t>
            </a:r>
            <a:r>
              <a:rPr b="1" i="0" lang="en-US" sz="1400" u="none" cap="none" strike="noStrike">
                <a:solidFill>
                  <a:srgbClr val="000000"/>
                </a:solidFill>
                <a:latin typeface="Arial"/>
                <a:ea typeface="Arial"/>
                <a:cs typeface="Arial"/>
                <a:sym typeface="Arial"/>
              </a:rPr>
              <a:t>AI-powered Nutrition Agent</a:t>
            </a:r>
            <a:r>
              <a:rPr b="0" i="0" lang="en-US" sz="1400" u="none" cap="none" strike="noStrike">
                <a:solidFill>
                  <a:srgbClr val="000000"/>
                </a:solidFill>
                <a:latin typeface="Arial"/>
                <a:ea typeface="Arial"/>
                <a:cs typeface="Arial"/>
                <a:sym typeface="Arial"/>
              </a:rPr>
              <a:t> that delivers </a:t>
            </a:r>
            <a:r>
              <a:rPr b="1" i="0" lang="en-US" sz="1400" u="none" cap="none" strike="noStrike">
                <a:solidFill>
                  <a:srgbClr val="000000"/>
                </a:solidFill>
                <a:latin typeface="Arial"/>
                <a:ea typeface="Arial"/>
                <a:cs typeface="Arial"/>
                <a:sym typeface="Arial"/>
              </a:rPr>
              <a:t>personalized dietary insights and guidance</a:t>
            </a:r>
            <a:r>
              <a:rPr b="0" i="0" lang="en-US" sz="1400" u="none" cap="none" strike="noStrike">
                <a:solidFill>
                  <a:srgbClr val="000000"/>
                </a:solidFill>
                <a:latin typeface="Arial"/>
                <a:ea typeface="Arial"/>
                <a:cs typeface="Arial"/>
                <a:sym typeface="Arial"/>
              </a:rPr>
              <a:t> for individuals, families, and health professionals. The solution should: </a:t>
            </a:r>
            <a:endParaRPr/>
          </a:p>
          <a:p>
            <a:pPr indent="-285750" lvl="0" marL="285750" marR="0" rtl="0" algn="l">
              <a:lnSpc>
                <a:spcPct val="100000"/>
              </a:lnSpc>
              <a:spcBef>
                <a:spcPts val="0"/>
              </a:spcBef>
              <a:spcAft>
                <a:spcPts val="0"/>
              </a:spcAft>
              <a:buClr>
                <a:srgbClr val="000000"/>
              </a:buClr>
              <a:buSzPts val="1400"/>
              <a:buFont typeface="Arial"/>
              <a:buChar char="•"/>
            </a:pPr>
            <a:r>
              <a:rPr b="1" i="0" lang="en-US" sz="1400" u="none" cap="none" strike="noStrike">
                <a:solidFill>
                  <a:srgbClr val="000000"/>
                </a:solidFill>
                <a:latin typeface="Arial"/>
                <a:ea typeface="Arial"/>
                <a:cs typeface="Arial"/>
                <a:sym typeface="Arial"/>
              </a:rPr>
              <a:t>Personalized Diet Plans</a:t>
            </a:r>
            <a:r>
              <a:rPr b="0" i="0" lang="en-US" sz="1400" u="none" cap="none" strike="noStrike">
                <a:solidFill>
                  <a:srgbClr val="000000"/>
                </a:solidFill>
                <a:latin typeface="Arial"/>
                <a:ea typeface="Arial"/>
                <a:cs typeface="Arial"/>
                <a:sym typeface="Arial"/>
              </a:rPr>
              <a:t> – Recommend meals based on age, health conditions, allergies, cultural preferences, and fitness goals. </a:t>
            </a:r>
            <a:endParaRPr/>
          </a:p>
          <a:p>
            <a:pPr indent="-285750" lvl="0" marL="285750" marR="0" rtl="0" algn="l">
              <a:lnSpc>
                <a:spcPct val="100000"/>
              </a:lnSpc>
              <a:spcBef>
                <a:spcPts val="0"/>
              </a:spcBef>
              <a:spcAft>
                <a:spcPts val="0"/>
              </a:spcAft>
              <a:buClr>
                <a:srgbClr val="000000"/>
              </a:buClr>
              <a:buSzPts val="1400"/>
              <a:buFont typeface="Arial"/>
              <a:buChar char="•"/>
            </a:pPr>
            <a:r>
              <a:rPr b="1" i="0" lang="en-US" sz="1400" u="none" cap="none" strike="noStrike">
                <a:solidFill>
                  <a:srgbClr val="000000"/>
                </a:solidFill>
                <a:latin typeface="Arial"/>
                <a:ea typeface="Arial"/>
                <a:cs typeface="Arial"/>
                <a:sym typeface="Arial"/>
              </a:rPr>
              <a:t>Food Data RAG Retrieval</a:t>
            </a:r>
            <a:r>
              <a:rPr b="0" i="0" lang="en-US" sz="1400" u="none" cap="none" strike="noStrike">
                <a:solidFill>
                  <a:srgbClr val="000000"/>
                </a:solidFill>
                <a:latin typeface="Arial"/>
                <a:ea typeface="Arial"/>
                <a:cs typeface="Arial"/>
                <a:sym typeface="Arial"/>
              </a:rPr>
              <a:t> – Fetch and summarize nutritional values (calories, macros, vitamins) from reliable sources. </a:t>
            </a:r>
            <a:endParaRPr/>
          </a:p>
          <a:p>
            <a:pPr indent="-285750" lvl="0" marL="285750" marR="0" rtl="0" algn="l">
              <a:lnSpc>
                <a:spcPct val="100000"/>
              </a:lnSpc>
              <a:spcBef>
                <a:spcPts val="0"/>
              </a:spcBef>
              <a:spcAft>
                <a:spcPts val="0"/>
              </a:spcAft>
              <a:buClr>
                <a:srgbClr val="000000"/>
              </a:buClr>
              <a:buSzPts val="1400"/>
              <a:buFont typeface="Arial"/>
              <a:buChar char="•"/>
            </a:pPr>
            <a:r>
              <a:rPr b="1" i="0" lang="en-US" sz="1400" u="none" cap="none" strike="noStrike">
                <a:solidFill>
                  <a:srgbClr val="000000"/>
                </a:solidFill>
                <a:latin typeface="Arial"/>
                <a:ea typeface="Arial"/>
                <a:cs typeface="Arial"/>
                <a:sym typeface="Arial"/>
              </a:rPr>
              <a:t>Diet Tracking &amp; Feedback</a:t>
            </a:r>
            <a:r>
              <a:rPr b="0" i="0" lang="en-US" sz="1400" u="none" cap="none" strike="noStrike">
                <a:solidFill>
                  <a:srgbClr val="000000"/>
                </a:solidFill>
                <a:latin typeface="Arial"/>
                <a:ea typeface="Arial"/>
                <a:cs typeface="Arial"/>
                <a:sym typeface="Arial"/>
              </a:rPr>
              <a:t> – Allow users to log meals via text, images, or voice, and provide instant nutritional analysis. </a:t>
            </a:r>
            <a:endParaRPr/>
          </a:p>
          <a:p>
            <a:pPr indent="-285750" lvl="0" marL="285750" marR="0" rtl="0" algn="l">
              <a:lnSpc>
                <a:spcPct val="100000"/>
              </a:lnSpc>
              <a:spcBef>
                <a:spcPts val="0"/>
              </a:spcBef>
              <a:spcAft>
                <a:spcPts val="0"/>
              </a:spcAft>
              <a:buClr>
                <a:srgbClr val="000000"/>
              </a:buClr>
              <a:buSzPts val="1400"/>
              <a:buFont typeface="Arial"/>
              <a:buChar char="•"/>
            </a:pPr>
            <a:r>
              <a:rPr b="1" i="0" lang="en-US" sz="1400" u="none" cap="none" strike="noStrike">
                <a:solidFill>
                  <a:srgbClr val="000000"/>
                </a:solidFill>
                <a:latin typeface="Arial"/>
                <a:ea typeface="Arial"/>
                <a:cs typeface="Arial"/>
                <a:sym typeface="Arial"/>
              </a:rPr>
              <a:t>Preventive Health Focus</a:t>
            </a:r>
            <a:r>
              <a:rPr b="0" i="0" lang="en-US" sz="1400" u="none" cap="none" strike="noStrike">
                <a:solidFill>
                  <a:srgbClr val="000000"/>
                </a:solidFill>
                <a:latin typeface="Arial"/>
                <a:ea typeface="Arial"/>
                <a:cs typeface="Arial"/>
                <a:sym typeface="Arial"/>
              </a:rPr>
              <a:t> – Suggest diets for chronic disease management (e.g., diabetes-friendly or heart-healthy plans). </a:t>
            </a:r>
            <a:endParaRPr/>
          </a:p>
          <a:p>
            <a:pPr indent="-285750" lvl="0" marL="285750" marR="0" rtl="0" algn="l">
              <a:lnSpc>
                <a:spcPct val="100000"/>
              </a:lnSpc>
              <a:spcBef>
                <a:spcPts val="0"/>
              </a:spcBef>
              <a:spcAft>
                <a:spcPts val="0"/>
              </a:spcAft>
              <a:buClr>
                <a:srgbClr val="000000"/>
              </a:buClr>
              <a:buSzPts val="1400"/>
              <a:buFont typeface="Arial"/>
              <a:buChar char="•"/>
            </a:pPr>
            <a:r>
              <a:rPr b="1" i="0" lang="en-US" sz="1400" u="none" cap="none" strike="noStrike">
                <a:solidFill>
                  <a:srgbClr val="000000"/>
                </a:solidFill>
                <a:latin typeface="Arial"/>
                <a:ea typeface="Arial"/>
                <a:cs typeface="Arial"/>
                <a:sym typeface="Arial"/>
              </a:rPr>
              <a:t>Multi-Agent System</a:t>
            </a:r>
            <a:r>
              <a:rPr b="0" i="0" lang="en-US" sz="1400" u="none" cap="none" strike="noStrike">
                <a:solidFill>
                  <a:srgbClr val="000000"/>
                </a:solidFill>
                <a:latin typeface="Arial"/>
                <a:ea typeface="Arial"/>
                <a:cs typeface="Arial"/>
                <a:sym typeface="Arial"/>
              </a:rPr>
              <a:t> – </a:t>
            </a:r>
            <a:endParaRPr/>
          </a:p>
          <a:p>
            <a:pPr indent="-285750" lvl="0" marL="285750" marR="0" rtl="0" algn="l">
              <a:lnSpc>
                <a:spcPct val="100000"/>
              </a:lnSpc>
              <a:spcBef>
                <a:spcPts val="0"/>
              </a:spcBef>
              <a:spcAft>
                <a:spcPts val="0"/>
              </a:spcAft>
              <a:buClr>
                <a:srgbClr val="000000"/>
              </a:buClr>
              <a:buSzPts val="1400"/>
              <a:buFont typeface="Arial"/>
              <a:buChar char="•"/>
            </a:pPr>
            <a:r>
              <a:rPr b="1" i="0" lang="en-US" sz="1400" u="none" cap="none" strike="noStrike">
                <a:solidFill>
                  <a:srgbClr val="000000"/>
                </a:solidFill>
                <a:latin typeface="Arial"/>
                <a:ea typeface="Arial"/>
                <a:cs typeface="Arial"/>
                <a:sym typeface="Arial"/>
              </a:rPr>
              <a:t>Nutrition Knowledge Agent</a:t>
            </a:r>
            <a:r>
              <a:rPr b="0" i="0" lang="en-US" sz="1400" u="none" cap="none" strike="noStrike">
                <a:solidFill>
                  <a:srgbClr val="000000"/>
                </a:solidFill>
                <a:latin typeface="Arial"/>
                <a:ea typeface="Arial"/>
                <a:cs typeface="Arial"/>
                <a:sym typeface="Arial"/>
              </a:rPr>
              <a:t> (fetches nutritional data) </a:t>
            </a:r>
            <a:endParaRPr/>
          </a:p>
          <a:p>
            <a:pPr indent="-285750" lvl="0" marL="285750" marR="0" rtl="0" algn="l">
              <a:lnSpc>
                <a:spcPct val="100000"/>
              </a:lnSpc>
              <a:spcBef>
                <a:spcPts val="0"/>
              </a:spcBef>
              <a:spcAft>
                <a:spcPts val="0"/>
              </a:spcAft>
              <a:buClr>
                <a:srgbClr val="000000"/>
              </a:buClr>
              <a:buSzPts val="1400"/>
              <a:buFont typeface="Arial"/>
              <a:buChar char="•"/>
            </a:pPr>
            <a:r>
              <a:rPr b="1" i="0" lang="en-US" sz="1400" u="none" cap="none" strike="noStrike">
                <a:solidFill>
                  <a:srgbClr val="000000"/>
                </a:solidFill>
                <a:latin typeface="Arial"/>
                <a:ea typeface="Arial"/>
                <a:cs typeface="Arial"/>
                <a:sym typeface="Arial"/>
              </a:rPr>
              <a:t>Diet Recommendation Agent</a:t>
            </a:r>
            <a:r>
              <a:rPr b="0" i="0" lang="en-US" sz="1400" u="none" cap="none" strike="noStrike">
                <a:solidFill>
                  <a:srgbClr val="000000"/>
                </a:solidFill>
                <a:latin typeface="Arial"/>
                <a:ea typeface="Arial"/>
                <a:cs typeface="Arial"/>
                <a:sym typeface="Arial"/>
              </a:rPr>
              <a:t> (personalized meal plans) </a:t>
            </a:r>
            <a:endParaRPr/>
          </a:p>
          <a:p>
            <a:pPr indent="-285750" lvl="0" marL="285750" marR="0" rtl="0" algn="l">
              <a:lnSpc>
                <a:spcPct val="100000"/>
              </a:lnSpc>
              <a:spcBef>
                <a:spcPts val="0"/>
              </a:spcBef>
              <a:spcAft>
                <a:spcPts val="0"/>
              </a:spcAft>
              <a:buClr>
                <a:srgbClr val="000000"/>
              </a:buClr>
              <a:buSzPts val="1400"/>
              <a:buFont typeface="Arial"/>
              <a:buChar char="•"/>
            </a:pPr>
            <a:r>
              <a:rPr b="1" i="0" lang="en-US" sz="1400" u="none" cap="none" strike="noStrike">
                <a:solidFill>
                  <a:srgbClr val="000000"/>
                </a:solidFill>
                <a:latin typeface="Arial"/>
                <a:ea typeface="Arial"/>
                <a:cs typeface="Arial"/>
                <a:sym typeface="Arial"/>
              </a:rPr>
              <a:t>Health Advisory Agent</a:t>
            </a:r>
            <a:r>
              <a:rPr b="0" i="0" lang="en-US" sz="1400" u="none" cap="none" strike="noStrike">
                <a:solidFill>
                  <a:srgbClr val="000000"/>
                </a:solidFill>
                <a:latin typeface="Arial"/>
                <a:ea typeface="Arial"/>
                <a:cs typeface="Arial"/>
                <a:sym typeface="Arial"/>
              </a:rPr>
              <a:t> (preventive health suggestions) </a:t>
            </a:r>
            <a:endParaRPr/>
          </a:p>
          <a:p>
            <a:pPr indent="-285750" lvl="0" marL="285750" marR="0" rtl="0" algn="l">
              <a:lnSpc>
                <a:spcPct val="100000"/>
              </a:lnSpc>
              <a:spcBef>
                <a:spcPts val="0"/>
              </a:spcBef>
              <a:spcAft>
                <a:spcPts val="0"/>
              </a:spcAft>
              <a:buClr>
                <a:srgbClr val="000000"/>
              </a:buClr>
              <a:buSzPts val="1400"/>
              <a:buFont typeface="Arial"/>
              <a:buChar char="•"/>
            </a:pPr>
            <a:r>
              <a:rPr b="1" i="0" lang="en-US" sz="1400" u="none" cap="none" strike="noStrike">
                <a:solidFill>
                  <a:srgbClr val="000000"/>
                </a:solidFill>
                <a:latin typeface="Arial"/>
                <a:ea typeface="Arial"/>
                <a:cs typeface="Arial"/>
                <a:sym typeface="Arial"/>
              </a:rPr>
              <a:t>Food Log &amp; Feedback Agent</a:t>
            </a:r>
            <a:r>
              <a:rPr b="0" i="0" lang="en-US" sz="1400" u="none" cap="none" strike="noStrike">
                <a:solidFill>
                  <a:srgbClr val="000000"/>
                </a:solidFill>
                <a:latin typeface="Arial"/>
                <a:ea typeface="Arial"/>
                <a:cs typeface="Arial"/>
                <a:sym typeface="Arial"/>
              </a:rPr>
              <a:t> (meal tracking + analysis) </a:t>
            </a:r>
            <a:endParaRPr/>
          </a:p>
          <a:p>
            <a:pPr indent="-285750" lvl="0" marL="285750" marR="0" rtl="0" algn="l">
              <a:lnSpc>
                <a:spcPct val="100000"/>
              </a:lnSpc>
              <a:spcBef>
                <a:spcPts val="0"/>
              </a:spcBef>
              <a:spcAft>
                <a:spcPts val="0"/>
              </a:spcAft>
              <a:buClr>
                <a:srgbClr val="000000"/>
              </a:buClr>
              <a:buSzPts val="1400"/>
              <a:buFont typeface="Arial"/>
              <a:buChar char="•"/>
            </a:pPr>
            <a:r>
              <a:rPr b="1" i="0" lang="en-US" sz="1400" u="none" cap="none" strike="noStrike">
                <a:solidFill>
                  <a:srgbClr val="000000"/>
                </a:solidFill>
                <a:latin typeface="Arial"/>
                <a:ea typeface="Arial"/>
                <a:cs typeface="Arial"/>
                <a:sym typeface="Arial"/>
              </a:rPr>
              <a:t>Visualization Dashboard</a:t>
            </a:r>
            <a:r>
              <a:rPr b="0" i="0" lang="en-US" sz="1400" u="none" cap="none" strike="noStrike">
                <a:solidFill>
                  <a:srgbClr val="000000"/>
                </a:solidFill>
                <a:latin typeface="Arial"/>
                <a:ea typeface="Arial"/>
                <a:cs typeface="Arial"/>
                <a:sym typeface="Arial"/>
              </a:rPr>
              <a:t> – Show daily/weekly nutrient intake, deficiencies, and progress toward health goals. </a:t>
            </a:r>
            <a:endParaRPr/>
          </a:p>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95" name="Google Shape;95;p34"/>
          <p:cNvSpPr txBox="1"/>
          <p:nvPr/>
        </p:nvSpPr>
        <p:spPr>
          <a:xfrm>
            <a:off x="576072" y="704088"/>
            <a:ext cx="7214616"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2400" u="none" cap="none" strike="noStrike">
                <a:solidFill>
                  <a:srgbClr val="000000"/>
                </a:solidFill>
                <a:latin typeface="Arial"/>
                <a:ea typeface="Arial"/>
                <a:cs typeface="Arial"/>
                <a:sym typeface="Arial"/>
              </a:rPr>
              <a:t>Problem Statement -</a:t>
            </a:r>
            <a:endParaRPr b="1" i="0" sz="2400" u="none" cap="none" strike="noStrike">
              <a:solidFill>
                <a:srgbClr val="000000"/>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sp>
        <p:nvSpPr>
          <p:cNvPr id="100" name="Google Shape;100;p35"/>
          <p:cNvSpPr txBox="1"/>
          <p:nvPr/>
        </p:nvSpPr>
        <p:spPr>
          <a:xfrm>
            <a:off x="576072" y="1234440"/>
            <a:ext cx="10607100" cy="4833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t/>
            </a:r>
            <a:endParaRPr b="1"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1" i="0" lang="en-US" sz="1400" u="none" cap="none" strike="noStrike">
                <a:solidFill>
                  <a:srgbClr val="000000"/>
                </a:solidFill>
                <a:latin typeface="Arial"/>
                <a:ea typeface="Arial"/>
                <a:cs typeface="Arial"/>
                <a:sym typeface="Arial"/>
              </a:rPr>
              <a:t>Proposed Solution: AI-Powered Nutrition Agent</a:t>
            </a:r>
            <a:endParaRPr/>
          </a:p>
          <a:p>
            <a:pPr indent="0" lvl="0" marL="0" marR="0" rtl="0" algn="l">
              <a:lnSpc>
                <a:spcPct val="100000"/>
              </a:lnSpc>
              <a:spcBef>
                <a:spcPts val="0"/>
              </a:spcBef>
              <a:spcAft>
                <a:spcPts val="0"/>
              </a:spcAft>
              <a:buNone/>
            </a:pPr>
            <a:r>
              <a:rPr b="0" i="0" lang="en-US" sz="1400" u="none" cap="none" strike="noStrike">
                <a:solidFill>
                  <a:srgbClr val="000000"/>
                </a:solidFill>
                <a:latin typeface="Arial"/>
                <a:ea typeface="Arial"/>
                <a:cs typeface="Arial"/>
                <a:sym typeface="Arial"/>
              </a:rPr>
              <a:t>The proposed solution is a </a:t>
            </a:r>
            <a:r>
              <a:rPr b="1" i="0" lang="en-US" sz="1400" u="none" cap="none" strike="noStrike">
                <a:solidFill>
                  <a:srgbClr val="000000"/>
                </a:solidFill>
                <a:latin typeface="Arial"/>
                <a:ea typeface="Arial"/>
                <a:cs typeface="Arial"/>
                <a:sym typeface="Arial"/>
              </a:rPr>
              <a:t>multi-agent AI-powered Nutrition Agent</a:t>
            </a:r>
            <a:r>
              <a:rPr b="0" i="0" lang="en-US" sz="1400" u="none" cap="none" strike="noStrike">
                <a:solidFill>
                  <a:srgbClr val="000000"/>
                </a:solidFill>
                <a:latin typeface="Arial"/>
                <a:ea typeface="Arial"/>
                <a:cs typeface="Arial"/>
                <a:sym typeface="Arial"/>
              </a:rPr>
              <a:t> built using</a:t>
            </a:r>
            <a:r>
              <a:rPr b="0" i="0" lang="en-US" sz="1400" u="none" cap="none" strike="noStrike">
                <a:solidFill>
                  <a:srgbClr val="000000"/>
                </a:solidFill>
                <a:latin typeface="Arial"/>
                <a:ea typeface="Arial"/>
                <a:cs typeface="Arial"/>
                <a:sym typeface="Arial"/>
              </a:rPr>
              <a:t> </a:t>
            </a:r>
            <a:r>
              <a:rPr b="1" i="0" lang="en-US" sz="1400" u="none" cap="none" strike="noStrike">
                <a:solidFill>
                  <a:srgbClr val="000000"/>
                </a:solidFill>
                <a:latin typeface="Arial"/>
                <a:ea typeface="Arial"/>
                <a:cs typeface="Arial"/>
                <a:sym typeface="Arial"/>
              </a:rPr>
              <a:t>IBM watsonx.ai, and Granite Models</a:t>
            </a:r>
            <a:r>
              <a:rPr b="0" i="0" lang="en-US" sz="1400" u="none" cap="none" strike="noStrike">
                <a:solidFill>
                  <a:srgbClr val="000000"/>
                </a:solidFill>
                <a:latin typeface="Arial"/>
                <a:ea typeface="Arial"/>
                <a:cs typeface="Arial"/>
                <a:sym typeface="Arial"/>
              </a:rPr>
              <a:t> to provide personalized, real-time dietary guidance. The system addresses challenges in diet planning, nutrition tracking, and preventive healthcare through an intelligent, modular architecture.</a:t>
            </a:r>
            <a:endParaRPr/>
          </a:p>
          <a:p>
            <a:pPr indent="0" lvl="0" marL="0" marR="0" rtl="0" algn="l">
              <a:lnSpc>
                <a:spcPct val="100000"/>
              </a:lnSpc>
              <a:spcBef>
                <a:spcPts val="0"/>
              </a:spcBef>
              <a:spcAft>
                <a:spcPts val="0"/>
              </a:spcAft>
              <a:buNone/>
            </a:pPr>
            <a:r>
              <a:rPr b="0" i="0" lang="en-US" sz="1400" u="none" cap="none" strike="noStrike">
                <a:solidFill>
                  <a:srgbClr val="000000"/>
                </a:solidFill>
                <a:latin typeface="Arial"/>
                <a:ea typeface="Arial"/>
                <a:cs typeface="Arial"/>
                <a:sym typeface="Arial"/>
              </a:rPr>
              <a:t>At its core, the solution uses a </a:t>
            </a:r>
            <a:r>
              <a:rPr b="1" i="0" lang="en-US" sz="1400" u="none" cap="none" strike="noStrike">
                <a:solidFill>
                  <a:srgbClr val="000000"/>
                </a:solidFill>
                <a:latin typeface="Arial"/>
                <a:ea typeface="Arial"/>
                <a:cs typeface="Arial"/>
                <a:sym typeface="Arial"/>
              </a:rPr>
              <a:t>Retrieval-Augmented Generation (RAG)</a:t>
            </a:r>
            <a:r>
              <a:rPr b="0" i="0" lang="en-US" sz="1400" u="none" cap="none" strike="noStrike">
                <a:solidFill>
                  <a:srgbClr val="000000"/>
                </a:solidFill>
                <a:latin typeface="Arial"/>
                <a:ea typeface="Arial"/>
                <a:cs typeface="Arial"/>
                <a:sym typeface="Arial"/>
              </a:rPr>
              <a:t> pipeline to fetch accurate nutritional data from trusted sources such as USDA and WHO datasets. This data is embedded and stored in a vector database, enabling the system to retrieve and summarize food nutrition details (calories, macros, vitamins) using Granite models.</a:t>
            </a:r>
            <a:endParaRPr/>
          </a:p>
          <a:p>
            <a:pPr indent="0" lvl="0" marL="0" marR="0" rtl="0" algn="l">
              <a:lnSpc>
                <a:spcPct val="100000"/>
              </a:lnSpc>
              <a:spcBef>
                <a:spcPts val="0"/>
              </a:spcBef>
              <a:spcAft>
                <a:spcPts val="0"/>
              </a:spcAft>
              <a:buNone/>
            </a:pPr>
            <a:r>
              <a:rPr b="0" i="0" lang="en-US" sz="1400" u="none" cap="none" strike="noStrike">
                <a:solidFill>
                  <a:srgbClr val="000000"/>
                </a:solidFill>
                <a:latin typeface="Arial"/>
                <a:ea typeface="Arial"/>
                <a:cs typeface="Arial"/>
                <a:sym typeface="Arial"/>
              </a:rPr>
              <a:t>The system consists of four key agents:</a:t>
            </a:r>
            <a:endParaRPr/>
          </a:p>
          <a:p>
            <a:pPr indent="0" lvl="0" marL="0" marR="0" rtl="0" algn="l">
              <a:lnSpc>
                <a:spcPct val="100000"/>
              </a:lnSpc>
              <a:spcBef>
                <a:spcPts val="0"/>
              </a:spcBef>
              <a:spcAft>
                <a:spcPts val="0"/>
              </a:spcAft>
              <a:buNone/>
            </a:pPr>
            <a:r>
              <a:rPr b="1" i="0" lang="en-US" sz="1400" u="none" cap="none" strike="noStrike">
                <a:solidFill>
                  <a:srgbClr val="000000"/>
                </a:solidFill>
                <a:latin typeface="Arial"/>
                <a:ea typeface="Arial"/>
                <a:cs typeface="Arial"/>
                <a:sym typeface="Arial"/>
              </a:rPr>
              <a:t>Nutrition Knowledge Agent</a:t>
            </a:r>
            <a:r>
              <a:rPr b="0" i="0" lang="en-US" sz="1400" u="none" cap="none" strike="noStrike">
                <a:solidFill>
                  <a:srgbClr val="000000"/>
                </a:solidFill>
                <a:latin typeface="Arial"/>
                <a:ea typeface="Arial"/>
                <a:cs typeface="Arial"/>
                <a:sym typeface="Arial"/>
              </a:rPr>
              <a:t> retrieves and summarizes nutritional information using RAG. </a:t>
            </a:r>
            <a:endParaRPr/>
          </a:p>
          <a:p>
            <a:pPr indent="0" lvl="0" marL="0" marR="0" rtl="0" algn="l">
              <a:lnSpc>
                <a:spcPct val="100000"/>
              </a:lnSpc>
              <a:spcBef>
                <a:spcPts val="0"/>
              </a:spcBef>
              <a:spcAft>
                <a:spcPts val="0"/>
              </a:spcAft>
              <a:buNone/>
            </a:pPr>
            <a:r>
              <a:rPr b="1" i="0" lang="en-US" sz="1400" u="none" cap="none" strike="noStrike">
                <a:solidFill>
                  <a:srgbClr val="000000"/>
                </a:solidFill>
                <a:latin typeface="Arial"/>
                <a:ea typeface="Arial"/>
                <a:cs typeface="Arial"/>
                <a:sym typeface="Arial"/>
              </a:rPr>
              <a:t>Diet Recommendation Agent</a:t>
            </a:r>
            <a:r>
              <a:rPr b="0" i="0" lang="en-US" sz="1400" u="none" cap="none" strike="noStrike">
                <a:solidFill>
                  <a:srgbClr val="000000"/>
                </a:solidFill>
                <a:latin typeface="Arial"/>
                <a:ea typeface="Arial"/>
                <a:cs typeface="Arial"/>
                <a:sym typeface="Arial"/>
              </a:rPr>
              <a:t> generates personalized meal plans based on user inputs such as age, health conditions, dietary preferences, and fitness goals. </a:t>
            </a:r>
            <a:endParaRPr/>
          </a:p>
          <a:p>
            <a:pPr indent="0" lvl="0" marL="0" marR="0" rtl="0" algn="l">
              <a:lnSpc>
                <a:spcPct val="100000"/>
              </a:lnSpc>
              <a:spcBef>
                <a:spcPts val="0"/>
              </a:spcBef>
              <a:spcAft>
                <a:spcPts val="0"/>
              </a:spcAft>
              <a:buNone/>
            </a:pPr>
            <a:r>
              <a:rPr b="1" i="0" lang="en-US" sz="1400" u="none" cap="none" strike="noStrike">
                <a:solidFill>
                  <a:srgbClr val="000000"/>
                </a:solidFill>
                <a:latin typeface="Arial"/>
                <a:ea typeface="Arial"/>
                <a:cs typeface="Arial"/>
                <a:sym typeface="Arial"/>
              </a:rPr>
              <a:t>Health Advisory Agent</a:t>
            </a:r>
            <a:r>
              <a:rPr b="0" i="0" lang="en-US" sz="1400" u="none" cap="none" strike="noStrike">
                <a:solidFill>
                  <a:srgbClr val="000000"/>
                </a:solidFill>
                <a:latin typeface="Arial"/>
                <a:ea typeface="Arial"/>
                <a:cs typeface="Arial"/>
                <a:sym typeface="Arial"/>
              </a:rPr>
              <a:t> provides preventive health suggestions, including disease-specific diets (e.g., diabetes-friendly or heart-healthy plans). </a:t>
            </a:r>
            <a:endParaRPr/>
          </a:p>
          <a:p>
            <a:pPr indent="0" lvl="0" marL="0" marR="0" rtl="0" algn="l">
              <a:lnSpc>
                <a:spcPct val="100000"/>
              </a:lnSpc>
              <a:spcBef>
                <a:spcPts val="0"/>
              </a:spcBef>
              <a:spcAft>
                <a:spcPts val="0"/>
              </a:spcAft>
              <a:buNone/>
            </a:pPr>
            <a:r>
              <a:rPr b="1" i="0" lang="en-US" sz="1400" u="none" cap="none" strike="noStrike">
                <a:solidFill>
                  <a:srgbClr val="000000"/>
                </a:solidFill>
                <a:latin typeface="Arial"/>
                <a:ea typeface="Arial"/>
                <a:cs typeface="Arial"/>
                <a:sym typeface="Arial"/>
              </a:rPr>
              <a:t>Food Log &amp; Feedback Agent</a:t>
            </a:r>
            <a:r>
              <a:rPr b="0" i="0" lang="en-US" sz="1400" u="none" cap="none" strike="noStrike">
                <a:solidFill>
                  <a:srgbClr val="000000"/>
                </a:solidFill>
                <a:latin typeface="Arial"/>
                <a:ea typeface="Arial"/>
                <a:cs typeface="Arial"/>
                <a:sym typeface="Arial"/>
              </a:rPr>
              <a:t> allows users to log meals via text, voice, or images and delivers instant nutritional analysis with actionable feedback. </a:t>
            </a:r>
            <a:endParaRPr/>
          </a:p>
          <a:p>
            <a:pPr indent="0" lvl="0" marL="0" marR="0" rtl="0" algn="l">
              <a:lnSpc>
                <a:spcPct val="100000"/>
              </a:lnSpc>
              <a:spcBef>
                <a:spcPts val="0"/>
              </a:spcBef>
              <a:spcAft>
                <a:spcPts val="0"/>
              </a:spcAft>
              <a:buNone/>
            </a:pPr>
            <a:r>
              <a:rPr b="0" i="0" lang="en-US" sz="1400" u="none" cap="none" strike="noStrike">
                <a:solidFill>
                  <a:srgbClr val="000000"/>
                </a:solidFill>
                <a:latin typeface="Arial"/>
                <a:ea typeface="Arial"/>
                <a:cs typeface="Arial"/>
                <a:sym typeface="Arial"/>
              </a:rPr>
              <a:t>The solution includes a </a:t>
            </a:r>
            <a:r>
              <a:rPr b="1" i="0" lang="en-US" sz="1400" u="none" cap="none" strike="noStrike">
                <a:solidFill>
                  <a:srgbClr val="000000"/>
                </a:solidFill>
                <a:latin typeface="Arial"/>
                <a:ea typeface="Arial"/>
                <a:cs typeface="Arial"/>
                <a:sym typeface="Arial"/>
              </a:rPr>
              <a:t>user-friendly dashboard</a:t>
            </a:r>
            <a:r>
              <a:rPr b="0" i="0" lang="en-US" sz="1400" u="none" cap="none" strike="noStrike">
                <a:solidFill>
                  <a:srgbClr val="000000"/>
                </a:solidFill>
                <a:latin typeface="Arial"/>
                <a:ea typeface="Arial"/>
                <a:cs typeface="Arial"/>
                <a:sym typeface="Arial"/>
              </a:rPr>
              <a:t> (built with Streamlit or React) that visualizes daily and weekly nutrient intake, highlights deficiencies, and tracks progress toward health goals.</a:t>
            </a:r>
            <a:endParaRPr/>
          </a:p>
          <a:p>
            <a:pPr indent="0" lvl="0" marL="0" marR="0" rtl="0" algn="l">
              <a:lnSpc>
                <a:spcPct val="100000"/>
              </a:lnSpc>
              <a:spcBef>
                <a:spcPts val="0"/>
              </a:spcBef>
              <a:spcAft>
                <a:spcPts val="0"/>
              </a:spcAft>
              <a:buNone/>
            </a:pPr>
            <a:r>
              <a:rPr b="0" i="0" lang="en-US" sz="1400" u="none" cap="none" strike="noStrike">
                <a:solidFill>
                  <a:srgbClr val="000000"/>
                </a:solidFill>
                <a:latin typeface="Arial"/>
                <a:ea typeface="Arial"/>
                <a:cs typeface="Arial"/>
                <a:sym typeface="Arial"/>
              </a:rPr>
              <a:t>Overall, this solution delivers an </a:t>
            </a:r>
            <a:r>
              <a:rPr b="1" i="0" lang="en-US" sz="1400" u="none" cap="none" strike="noStrike">
                <a:solidFill>
                  <a:srgbClr val="000000"/>
                </a:solidFill>
                <a:latin typeface="Arial"/>
                <a:ea typeface="Arial"/>
                <a:cs typeface="Arial"/>
                <a:sym typeface="Arial"/>
              </a:rPr>
              <a:t>end-to-end intelligent nutrition assistant</a:t>
            </a:r>
            <a:r>
              <a:rPr b="0" i="0" lang="en-US" sz="1400" u="none" cap="none" strike="noStrike">
                <a:solidFill>
                  <a:srgbClr val="000000"/>
                </a:solidFill>
                <a:latin typeface="Arial"/>
                <a:ea typeface="Arial"/>
                <a:cs typeface="Arial"/>
                <a:sym typeface="Arial"/>
              </a:rPr>
              <a:t> that promotes healthier lifestyles through personalized insights, real-time feedback, and preventive healthcare recommendations.</a:t>
            </a:r>
            <a:endParaRPr/>
          </a:p>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01" name="Google Shape;101;p35"/>
          <p:cNvSpPr txBox="1"/>
          <p:nvPr/>
        </p:nvSpPr>
        <p:spPr>
          <a:xfrm>
            <a:off x="576072" y="704088"/>
            <a:ext cx="7214616"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2400" u="none" cap="none" strike="noStrike">
                <a:solidFill>
                  <a:srgbClr val="000000"/>
                </a:solidFill>
                <a:latin typeface="Arial"/>
                <a:ea typeface="Arial"/>
                <a:cs typeface="Arial"/>
                <a:sym typeface="Arial"/>
              </a:rPr>
              <a:t>Proposed Solution -</a:t>
            </a:r>
            <a:endParaRPr b="1" i="0" sz="2400" u="none" cap="none" strike="noStrike">
              <a:solidFill>
                <a:srgbClr val="000000"/>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 name="Shape 105"/>
        <p:cNvGrpSpPr/>
        <p:nvPr/>
      </p:nvGrpSpPr>
      <p:grpSpPr>
        <a:xfrm>
          <a:off x="0" y="0"/>
          <a:ext cx="0" cy="0"/>
          <a:chOff x="0" y="0"/>
          <a:chExt cx="0" cy="0"/>
        </a:xfrm>
      </p:grpSpPr>
      <p:sp>
        <p:nvSpPr>
          <p:cNvPr id="106" name="Google Shape;106;p36"/>
          <p:cNvSpPr txBox="1"/>
          <p:nvPr/>
        </p:nvSpPr>
        <p:spPr>
          <a:xfrm>
            <a:off x="777240" y="484632"/>
            <a:ext cx="7123176"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2400" u="none" cap="none" strike="noStrike">
                <a:solidFill>
                  <a:srgbClr val="000000"/>
                </a:solidFill>
                <a:latin typeface="Arial"/>
                <a:ea typeface="Arial"/>
                <a:cs typeface="Arial"/>
                <a:sym typeface="Arial"/>
              </a:rPr>
              <a:t>Technology Used</a:t>
            </a:r>
            <a:endParaRPr b="1" i="0" sz="2400" u="none" cap="none" strike="noStrike">
              <a:solidFill>
                <a:srgbClr val="000000"/>
              </a:solidFill>
              <a:latin typeface="Arial"/>
              <a:ea typeface="Arial"/>
              <a:cs typeface="Arial"/>
              <a:sym typeface="Arial"/>
            </a:endParaRPr>
          </a:p>
        </p:txBody>
      </p:sp>
      <p:sp>
        <p:nvSpPr>
          <p:cNvPr id="107" name="Google Shape;107;p36"/>
          <p:cNvSpPr txBox="1"/>
          <p:nvPr/>
        </p:nvSpPr>
        <p:spPr>
          <a:xfrm>
            <a:off x="777240" y="1207008"/>
            <a:ext cx="10515600" cy="4956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rgbClr val="000000"/>
              </a:buClr>
              <a:buSzPts val="1800"/>
              <a:buFont typeface="Arial"/>
              <a:buChar char="•"/>
            </a:pPr>
            <a:r>
              <a:rPr b="1" i="0" lang="en-US" sz="1800" u="none" cap="none" strike="noStrike">
                <a:solidFill>
                  <a:srgbClr val="000000"/>
                </a:solidFill>
                <a:latin typeface="Arial"/>
                <a:ea typeface="Arial"/>
                <a:cs typeface="Arial"/>
                <a:sym typeface="Arial"/>
              </a:rPr>
              <a:t>IBM Granite model </a:t>
            </a:r>
            <a:r>
              <a:rPr b="0" i="0" lang="en-US" sz="1800" u="none" cap="none" strike="noStrike">
                <a:solidFill>
                  <a:srgbClr val="000000"/>
                </a:solidFill>
                <a:latin typeface="Arial"/>
                <a:ea typeface="Arial"/>
                <a:cs typeface="Arial"/>
                <a:sym typeface="Arial"/>
              </a:rPr>
              <a:t>-  for eg – ibm-granite-3-2-8b – For natural language understanding, reasoning, and personalization</a:t>
            </a:r>
            <a:endParaRPr/>
          </a:p>
          <a:p>
            <a:pPr indent="-171450" lvl="0" marL="28575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rgbClr val="000000"/>
              </a:buClr>
              <a:buSzPts val="1800"/>
              <a:buFont typeface="Arial"/>
              <a:buChar char="•"/>
            </a:pPr>
            <a:r>
              <a:rPr b="1" i="0" lang="en-US" sz="1800" u="none" cap="none" strike="noStrike">
                <a:solidFill>
                  <a:srgbClr val="000000"/>
                </a:solidFill>
                <a:latin typeface="Arial"/>
                <a:ea typeface="Arial"/>
                <a:cs typeface="Arial"/>
                <a:sym typeface="Arial"/>
              </a:rPr>
              <a:t>IBM Cloud </a:t>
            </a:r>
            <a:r>
              <a:rPr b="0" i="0" lang="en-US" sz="1800" u="none" cap="none" strike="noStrike">
                <a:solidFill>
                  <a:srgbClr val="000000"/>
                </a:solidFill>
                <a:latin typeface="Arial"/>
                <a:ea typeface="Arial"/>
                <a:cs typeface="Arial"/>
                <a:sym typeface="Arial"/>
              </a:rPr>
              <a:t>– It provides the infrastructure to build, deploy, and scale the Nutrition Agent efficiently. IBM Cloud enables a </a:t>
            </a:r>
            <a:r>
              <a:rPr b="1" i="0" lang="en-US" sz="1800" u="none" cap="none" strike="noStrike">
                <a:solidFill>
                  <a:srgbClr val="000000"/>
                </a:solidFill>
                <a:latin typeface="Arial"/>
                <a:ea typeface="Arial"/>
                <a:cs typeface="Arial"/>
                <a:sym typeface="Arial"/>
              </a:rPr>
              <a:t>reliable, secure, and scalable environment</a:t>
            </a:r>
            <a:r>
              <a:rPr b="0" i="0" lang="en-US" sz="1800" u="none" cap="none" strike="noStrike">
                <a:solidFill>
                  <a:srgbClr val="000000"/>
                </a:solidFill>
                <a:latin typeface="Arial"/>
                <a:ea typeface="Arial"/>
                <a:cs typeface="Arial"/>
                <a:sym typeface="Arial"/>
              </a:rPr>
              <a:t> for deploying the Nutrition Agent.</a:t>
            </a:r>
            <a:endParaRPr/>
          </a:p>
          <a:p>
            <a:pPr indent="-171450" lvl="0" marL="28575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rgbClr val="000000"/>
              </a:buClr>
              <a:buSzPts val="1800"/>
              <a:buFont typeface="Arial"/>
              <a:buChar char="•"/>
            </a:pPr>
            <a:r>
              <a:rPr b="1" i="0" lang="en-US" sz="1800" u="none" cap="none" strike="noStrike">
                <a:solidFill>
                  <a:srgbClr val="000000"/>
                </a:solidFill>
                <a:latin typeface="Arial"/>
                <a:ea typeface="Arial"/>
                <a:cs typeface="Arial"/>
                <a:sym typeface="Arial"/>
              </a:rPr>
              <a:t>RAG– </a:t>
            </a:r>
            <a:r>
              <a:rPr b="0" i="0" lang="en-US" sz="1800" u="none" cap="none" strike="noStrike">
                <a:solidFill>
                  <a:srgbClr val="000000"/>
                </a:solidFill>
                <a:latin typeface="Arial"/>
                <a:ea typeface="Arial"/>
                <a:cs typeface="Arial"/>
                <a:sym typeface="Arial"/>
              </a:rPr>
              <a:t>RAG to </a:t>
            </a:r>
            <a:r>
              <a:rPr b="1" i="0" lang="en-US" sz="1800" u="none" cap="none" strike="noStrike">
                <a:solidFill>
                  <a:srgbClr val="000000"/>
                </a:solidFill>
                <a:latin typeface="Arial"/>
                <a:ea typeface="Arial"/>
                <a:cs typeface="Arial"/>
                <a:sym typeface="Arial"/>
              </a:rPr>
              <a:t>fetch real data first, then generate intelligent answers</a:t>
            </a:r>
            <a:r>
              <a:rPr b="0" i="0" lang="en-US" sz="1800" u="none" cap="none" strike="noStrike">
                <a:solidFill>
                  <a:srgbClr val="000000"/>
                </a:solidFill>
                <a:latin typeface="Arial"/>
                <a:ea typeface="Arial"/>
                <a:cs typeface="Arial"/>
                <a:sym typeface="Arial"/>
              </a:rPr>
              <a:t>, making the Nutrition Agent more trustworthy and effective.</a:t>
            </a:r>
            <a:endParaRPr/>
          </a:p>
          <a:p>
            <a:pPr indent="-171450" lvl="0" marL="28575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rgbClr val="000000"/>
              </a:buClr>
              <a:buSzPts val="1800"/>
              <a:buFont typeface="Arial"/>
              <a:buChar char="•"/>
            </a:pPr>
            <a:r>
              <a:rPr b="1" i="0" lang="en-US" sz="1800" u="none" cap="none" strike="noStrike">
                <a:solidFill>
                  <a:srgbClr val="000000"/>
                </a:solidFill>
                <a:latin typeface="Arial"/>
                <a:ea typeface="Arial"/>
                <a:cs typeface="Arial"/>
                <a:sym typeface="Arial"/>
              </a:rPr>
              <a:t>IBM Watsonx.ai - </a:t>
            </a:r>
            <a:r>
              <a:rPr b="0" i="0" lang="en-US" sz="1800" u="none" cap="none" strike="noStrike">
                <a:solidFill>
                  <a:srgbClr val="000000"/>
                </a:solidFill>
                <a:latin typeface="Arial"/>
                <a:ea typeface="Arial"/>
                <a:cs typeface="Arial"/>
                <a:sym typeface="Arial"/>
              </a:rPr>
              <a:t>For model deployment, embeddings, and AI governance</a:t>
            </a:r>
            <a:endParaRPr/>
          </a:p>
          <a:p>
            <a:pPr indent="-171450" lvl="0" marL="28575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rgbClr val="000000"/>
              </a:buClr>
              <a:buSzPts val="1800"/>
              <a:buFont typeface="Arial"/>
              <a:buChar char="•"/>
            </a:pPr>
            <a:r>
              <a:rPr b="1" i="0" lang="en-US" sz="1800" u="none" cap="none" strike="noStrike">
                <a:solidFill>
                  <a:srgbClr val="000000"/>
                </a:solidFill>
                <a:latin typeface="Arial"/>
                <a:ea typeface="Arial"/>
                <a:cs typeface="Arial"/>
                <a:sym typeface="Arial"/>
              </a:rPr>
              <a:t>Vector Database </a:t>
            </a:r>
            <a:r>
              <a:rPr b="0" i="0" lang="en-US" sz="1800" u="none" cap="none" strike="noStrike">
                <a:solidFill>
                  <a:srgbClr val="000000"/>
                </a:solidFill>
                <a:latin typeface="Arial"/>
                <a:ea typeface="Arial"/>
                <a:cs typeface="Arial"/>
                <a:sym typeface="Arial"/>
              </a:rPr>
              <a:t>(FAISS/Chroma) – For RAG-based nutritional data retrieval</a:t>
            </a:r>
            <a:endParaRPr b="0" i="0" sz="1800" u="none" cap="none" strike="noStrike">
              <a:solidFill>
                <a:srgbClr val="000000"/>
              </a:solidFill>
              <a:latin typeface="Arial"/>
              <a:ea typeface="Arial"/>
              <a:cs typeface="Arial"/>
              <a:sym typeface="Arial"/>
            </a:endParaRPr>
          </a:p>
          <a:p>
            <a:pPr indent="-171450" lvl="0" marL="28575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a:p>
            <a:pPr indent="-171450" lvl="0" marL="28575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 name="Shape 111"/>
        <p:cNvGrpSpPr/>
        <p:nvPr/>
      </p:nvGrpSpPr>
      <p:grpSpPr>
        <a:xfrm>
          <a:off x="0" y="0"/>
          <a:ext cx="0" cy="0"/>
          <a:chOff x="0" y="0"/>
          <a:chExt cx="0" cy="0"/>
        </a:xfrm>
      </p:grpSpPr>
      <p:pic>
        <p:nvPicPr>
          <p:cNvPr id="112" name="Google Shape;112;p38" title="Screenshot 2026-07-11 145151.png"/>
          <p:cNvPicPr preferRelativeResize="0"/>
          <p:nvPr/>
        </p:nvPicPr>
        <p:blipFill>
          <a:blip r:embed="rId3">
            <a:alphaModFix/>
          </a:blip>
          <a:stretch>
            <a:fillRect/>
          </a:stretch>
        </p:blipFill>
        <p:spPr>
          <a:xfrm>
            <a:off x="182325" y="291950"/>
            <a:ext cx="5975077" cy="2967060"/>
          </a:xfrm>
          <a:prstGeom prst="rect">
            <a:avLst/>
          </a:prstGeom>
          <a:noFill/>
          <a:ln>
            <a:noFill/>
          </a:ln>
        </p:spPr>
      </p:pic>
      <p:pic>
        <p:nvPicPr>
          <p:cNvPr id="113" name="Google Shape;113;p38" title="Screenshot 2026-07-11 145138.png"/>
          <p:cNvPicPr preferRelativeResize="0"/>
          <p:nvPr/>
        </p:nvPicPr>
        <p:blipFill>
          <a:blip r:embed="rId4">
            <a:alphaModFix/>
          </a:blip>
          <a:stretch>
            <a:fillRect/>
          </a:stretch>
        </p:blipFill>
        <p:spPr>
          <a:xfrm>
            <a:off x="6157400" y="291950"/>
            <a:ext cx="5875776" cy="3015067"/>
          </a:xfrm>
          <a:prstGeom prst="rect">
            <a:avLst/>
          </a:prstGeom>
          <a:noFill/>
          <a:ln>
            <a:noFill/>
          </a:ln>
        </p:spPr>
      </p:pic>
      <p:pic>
        <p:nvPicPr>
          <p:cNvPr id="114" name="Google Shape;114;p38" title="Screenshot 2026-07-11 145115.png"/>
          <p:cNvPicPr preferRelativeResize="0"/>
          <p:nvPr/>
        </p:nvPicPr>
        <p:blipFill>
          <a:blip r:embed="rId5">
            <a:alphaModFix/>
          </a:blip>
          <a:stretch>
            <a:fillRect/>
          </a:stretch>
        </p:blipFill>
        <p:spPr>
          <a:xfrm>
            <a:off x="152400" y="3411925"/>
            <a:ext cx="6004790" cy="3015074"/>
          </a:xfrm>
          <a:prstGeom prst="rect">
            <a:avLst/>
          </a:prstGeom>
          <a:noFill/>
          <a:ln>
            <a:noFill/>
          </a:ln>
        </p:spPr>
      </p:pic>
      <p:pic>
        <p:nvPicPr>
          <p:cNvPr id="115" name="Google Shape;115;p38" title="Screenshot 2026-07-11 145048.png"/>
          <p:cNvPicPr preferRelativeResize="0"/>
          <p:nvPr/>
        </p:nvPicPr>
        <p:blipFill>
          <a:blip r:embed="rId6">
            <a:alphaModFix/>
          </a:blip>
          <a:stretch>
            <a:fillRect/>
          </a:stretch>
        </p:blipFill>
        <p:spPr>
          <a:xfrm>
            <a:off x="6206970" y="3509250"/>
            <a:ext cx="5912378" cy="2967049"/>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pic>
        <p:nvPicPr>
          <p:cNvPr id="120" name="Google Shape;120;g3f7f89cd584_0_13" title="Screenshot 2026-07-11 145034.png"/>
          <p:cNvPicPr preferRelativeResize="0"/>
          <p:nvPr/>
        </p:nvPicPr>
        <p:blipFill>
          <a:blip r:embed="rId3">
            <a:alphaModFix/>
          </a:blip>
          <a:stretch>
            <a:fillRect/>
          </a:stretch>
        </p:blipFill>
        <p:spPr>
          <a:xfrm>
            <a:off x="152400" y="152400"/>
            <a:ext cx="5921501" cy="2957626"/>
          </a:xfrm>
          <a:prstGeom prst="rect">
            <a:avLst/>
          </a:prstGeom>
          <a:noFill/>
          <a:ln>
            <a:noFill/>
          </a:ln>
        </p:spPr>
      </p:pic>
      <p:pic>
        <p:nvPicPr>
          <p:cNvPr id="121" name="Google Shape;121;g3f7f89cd584_0_13" title="Screenshot 2026-07-11 144913.png"/>
          <p:cNvPicPr preferRelativeResize="0"/>
          <p:nvPr/>
        </p:nvPicPr>
        <p:blipFill>
          <a:blip r:embed="rId4">
            <a:alphaModFix/>
          </a:blip>
          <a:stretch>
            <a:fillRect/>
          </a:stretch>
        </p:blipFill>
        <p:spPr>
          <a:xfrm>
            <a:off x="152400" y="3262425"/>
            <a:ext cx="5921501" cy="2967008"/>
          </a:xfrm>
          <a:prstGeom prst="rect">
            <a:avLst/>
          </a:prstGeom>
          <a:noFill/>
          <a:ln>
            <a:noFill/>
          </a:ln>
        </p:spPr>
      </p:pic>
      <p:pic>
        <p:nvPicPr>
          <p:cNvPr id="122" name="Google Shape;122;g3f7f89cd584_0_13"/>
          <p:cNvPicPr preferRelativeResize="0"/>
          <p:nvPr/>
        </p:nvPicPr>
        <p:blipFill>
          <a:blip r:embed="rId5">
            <a:alphaModFix/>
          </a:blip>
          <a:stretch>
            <a:fillRect/>
          </a:stretch>
        </p:blipFill>
        <p:spPr>
          <a:xfrm>
            <a:off x="6073900" y="332800"/>
            <a:ext cx="5813300" cy="2967001"/>
          </a:xfrm>
          <a:prstGeom prst="rect">
            <a:avLst/>
          </a:prstGeom>
          <a:noFill/>
          <a:ln>
            <a:noFill/>
          </a:ln>
        </p:spPr>
      </p:pic>
      <p:pic>
        <p:nvPicPr>
          <p:cNvPr id="123" name="Google Shape;123;g3f7f89cd584_0_13"/>
          <p:cNvPicPr preferRelativeResize="0"/>
          <p:nvPr/>
        </p:nvPicPr>
        <p:blipFill>
          <a:blip r:embed="rId6">
            <a:alphaModFix/>
          </a:blip>
          <a:stretch>
            <a:fillRect/>
          </a:stretch>
        </p:blipFill>
        <p:spPr>
          <a:xfrm>
            <a:off x="6073901" y="3474633"/>
            <a:ext cx="5813298" cy="2928157"/>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40"/>
          <p:cNvSpPr txBox="1"/>
          <p:nvPr/>
        </p:nvSpPr>
        <p:spPr>
          <a:xfrm>
            <a:off x="777240" y="484632"/>
            <a:ext cx="7123200" cy="461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2400" u="none" cap="none" strike="noStrike">
                <a:solidFill>
                  <a:srgbClr val="000000"/>
                </a:solidFill>
                <a:latin typeface="Arial"/>
                <a:ea typeface="Arial"/>
                <a:cs typeface="Arial"/>
                <a:sym typeface="Arial"/>
              </a:rPr>
              <a:t>Novelty and Uniqueness</a:t>
            </a:r>
            <a:endParaRPr b="1" i="0" sz="2400" u="none" cap="none" strike="noStrike">
              <a:solidFill>
                <a:srgbClr val="000000"/>
              </a:solidFill>
              <a:latin typeface="Arial"/>
              <a:ea typeface="Arial"/>
              <a:cs typeface="Arial"/>
              <a:sym typeface="Arial"/>
            </a:endParaRPr>
          </a:p>
        </p:txBody>
      </p:sp>
      <p:sp>
        <p:nvSpPr>
          <p:cNvPr id="129" name="Google Shape;129;p40"/>
          <p:cNvSpPr txBox="1"/>
          <p:nvPr/>
        </p:nvSpPr>
        <p:spPr>
          <a:xfrm>
            <a:off x="777240" y="1207008"/>
            <a:ext cx="11301900" cy="5293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1800" u="none" cap="none" strike="noStrike">
                <a:solidFill>
                  <a:srgbClr val="000000"/>
                </a:solidFill>
                <a:latin typeface="Arial"/>
                <a:ea typeface="Arial"/>
                <a:cs typeface="Arial"/>
                <a:sym typeface="Arial"/>
              </a:rPr>
              <a:t>The proposed Nutrition Agent stands out by combining </a:t>
            </a:r>
            <a:r>
              <a:rPr b="1" i="0" lang="en-US" sz="1800" u="none" cap="none" strike="noStrike">
                <a:solidFill>
                  <a:srgbClr val="000000"/>
                </a:solidFill>
                <a:latin typeface="Arial"/>
                <a:ea typeface="Arial"/>
                <a:cs typeface="Arial"/>
                <a:sym typeface="Arial"/>
              </a:rPr>
              <a:t>Agentic AI, RAG, and personalization</a:t>
            </a:r>
            <a:r>
              <a:rPr b="0" i="0" lang="en-US" sz="1800" u="none" cap="none" strike="noStrike">
                <a:solidFill>
                  <a:srgbClr val="000000"/>
                </a:solidFill>
                <a:latin typeface="Arial"/>
                <a:ea typeface="Arial"/>
                <a:cs typeface="Arial"/>
                <a:sym typeface="Arial"/>
              </a:rPr>
              <a:t> into a single intelligent system.</a:t>
            </a:r>
            <a:endParaRPr/>
          </a:p>
          <a:p>
            <a:pPr indent="0" lvl="0" marL="0" marR="0" rtl="0" algn="l">
              <a:lnSpc>
                <a:spcPct val="100000"/>
              </a:lnSpc>
              <a:spcBef>
                <a:spcPts val="0"/>
              </a:spcBef>
              <a:spcAft>
                <a:spcPts val="0"/>
              </a:spcAft>
              <a:buNone/>
            </a:pPr>
            <a:r>
              <a:t/>
            </a:r>
            <a:endParaRPr b="0" i="0" sz="18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1" i="0" lang="en-US" sz="1800" u="none" cap="none" strike="noStrike">
                <a:solidFill>
                  <a:srgbClr val="000000"/>
                </a:solidFill>
                <a:latin typeface="Arial"/>
                <a:ea typeface="Arial"/>
                <a:cs typeface="Arial"/>
                <a:sym typeface="Arial"/>
              </a:rPr>
              <a:t>Multi-Agent Intelligence</a:t>
            </a:r>
            <a:r>
              <a:rPr b="0" i="0" lang="en-US" sz="1800" u="none" cap="none" strike="noStrike">
                <a:solidFill>
                  <a:srgbClr val="000000"/>
                </a:solidFill>
                <a:latin typeface="Arial"/>
                <a:ea typeface="Arial"/>
                <a:cs typeface="Arial"/>
                <a:sym typeface="Arial"/>
              </a:rPr>
              <a:t> – Instead of a single chatbot, multiple specialized agents collaborate to deliver accurate and context-aware nutrition guidance. </a:t>
            </a:r>
            <a:endParaRPr/>
          </a:p>
          <a:p>
            <a:pPr indent="0" lvl="0" marL="0" marR="0" rtl="0" algn="l">
              <a:lnSpc>
                <a:spcPct val="100000"/>
              </a:lnSpc>
              <a:spcBef>
                <a:spcPts val="0"/>
              </a:spcBef>
              <a:spcAft>
                <a:spcPts val="0"/>
              </a:spcAft>
              <a:buNone/>
            </a:pPr>
            <a:r>
              <a:rPr b="1" i="0" lang="en-US" sz="1800" u="none" cap="none" strike="noStrike">
                <a:solidFill>
                  <a:srgbClr val="000000"/>
                </a:solidFill>
                <a:latin typeface="Arial"/>
                <a:ea typeface="Arial"/>
                <a:cs typeface="Arial"/>
                <a:sym typeface="Arial"/>
              </a:rPr>
              <a:t>RAG-Based Accuracy</a:t>
            </a:r>
            <a:r>
              <a:rPr b="0" i="0" lang="en-US" sz="1800" u="none" cap="none" strike="noStrike">
                <a:solidFill>
                  <a:srgbClr val="000000"/>
                </a:solidFill>
                <a:latin typeface="Arial"/>
                <a:ea typeface="Arial"/>
                <a:cs typeface="Arial"/>
                <a:sym typeface="Arial"/>
              </a:rPr>
              <a:t> – Integrates real-time data retrieval with AI generation, reducing misinformation and ensuring trustworthy recommendations. </a:t>
            </a:r>
            <a:endParaRPr/>
          </a:p>
          <a:p>
            <a:pPr indent="0" lvl="0" marL="0" marR="0" rtl="0" algn="l">
              <a:lnSpc>
                <a:spcPct val="100000"/>
              </a:lnSpc>
              <a:spcBef>
                <a:spcPts val="0"/>
              </a:spcBef>
              <a:spcAft>
                <a:spcPts val="0"/>
              </a:spcAft>
              <a:buNone/>
            </a:pPr>
            <a:r>
              <a:rPr b="1" i="0" lang="en-US" sz="1800" u="none" cap="none" strike="noStrike">
                <a:solidFill>
                  <a:srgbClr val="000000"/>
                </a:solidFill>
                <a:latin typeface="Arial"/>
                <a:ea typeface="Arial"/>
                <a:cs typeface="Arial"/>
                <a:sym typeface="Arial"/>
              </a:rPr>
              <a:t>Hyper-Personalization</a:t>
            </a:r>
            <a:r>
              <a:rPr b="0" i="0" lang="en-US" sz="1800" u="none" cap="none" strike="noStrike">
                <a:solidFill>
                  <a:srgbClr val="000000"/>
                </a:solidFill>
                <a:latin typeface="Arial"/>
                <a:ea typeface="Arial"/>
                <a:cs typeface="Arial"/>
                <a:sym typeface="Arial"/>
              </a:rPr>
              <a:t> – Tailors diet plans based on health conditions, cultural preferences, and fitness goals. </a:t>
            </a:r>
            <a:endParaRPr/>
          </a:p>
          <a:p>
            <a:pPr indent="0" lvl="0" marL="0" marR="0" rtl="0" algn="l">
              <a:lnSpc>
                <a:spcPct val="100000"/>
              </a:lnSpc>
              <a:spcBef>
                <a:spcPts val="0"/>
              </a:spcBef>
              <a:spcAft>
                <a:spcPts val="0"/>
              </a:spcAft>
              <a:buNone/>
            </a:pPr>
            <a:r>
              <a:rPr b="1" i="0" lang="en-US" sz="1800" u="none" cap="none" strike="noStrike">
                <a:solidFill>
                  <a:srgbClr val="000000"/>
                </a:solidFill>
                <a:latin typeface="Arial"/>
                <a:ea typeface="Arial"/>
                <a:cs typeface="Arial"/>
                <a:sym typeface="Arial"/>
              </a:rPr>
              <a:t>Real-Time Feedback Loop</a:t>
            </a:r>
            <a:r>
              <a:rPr b="0" i="0" lang="en-US" sz="1800" u="none" cap="none" strike="noStrike">
                <a:solidFill>
                  <a:srgbClr val="000000"/>
                </a:solidFill>
                <a:latin typeface="Arial"/>
                <a:ea typeface="Arial"/>
                <a:cs typeface="Arial"/>
                <a:sym typeface="Arial"/>
              </a:rPr>
              <a:t> – Continuously adapts recommendations based on daily food logs and user behavior. </a:t>
            </a:r>
            <a:endParaRPr/>
          </a:p>
          <a:p>
            <a:pPr indent="0" lvl="0" marL="0" marR="0" rtl="0" algn="l">
              <a:lnSpc>
                <a:spcPct val="100000"/>
              </a:lnSpc>
              <a:spcBef>
                <a:spcPts val="0"/>
              </a:spcBef>
              <a:spcAft>
                <a:spcPts val="0"/>
              </a:spcAft>
              <a:buNone/>
            </a:pPr>
            <a:r>
              <a:rPr b="1" i="0" lang="en-US" sz="1800" u="none" cap="none" strike="noStrike">
                <a:solidFill>
                  <a:srgbClr val="000000"/>
                </a:solidFill>
                <a:latin typeface="Arial"/>
                <a:ea typeface="Arial"/>
                <a:cs typeface="Arial"/>
                <a:sym typeface="Arial"/>
              </a:rPr>
              <a:t>Multi-Modal Input</a:t>
            </a:r>
            <a:r>
              <a:rPr b="0" i="0" lang="en-US" sz="1800" u="none" cap="none" strike="noStrike">
                <a:solidFill>
                  <a:srgbClr val="000000"/>
                </a:solidFill>
                <a:latin typeface="Arial"/>
                <a:ea typeface="Arial"/>
                <a:cs typeface="Arial"/>
                <a:sym typeface="Arial"/>
              </a:rPr>
              <a:t> – Supports text, voice, and image-based meal tracking for better usability. </a:t>
            </a:r>
            <a:endParaRPr/>
          </a:p>
          <a:p>
            <a:pPr indent="0" lvl="0" marL="0" marR="0" rtl="0" algn="l">
              <a:lnSpc>
                <a:spcPct val="100000"/>
              </a:lnSpc>
              <a:spcBef>
                <a:spcPts val="0"/>
              </a:spcBef>
              <a:spcAft>
                <a:spcPts val="0"/>
              </a:spcAft>
              <a:buNone/>
            </a:pPr>
            <a:r>
              <a:rPr b="1" i="0" lang="en-US" sz="1800" u="none" cap="none" strike="noStrike">
                <a:solidFill>
                  <a:srgbClr val="000000"/>
                </a:solidFill>
                <a:latin typeface="Arial"/>
                <a:ea typeface="Arial"/>
                <a:cs typeface="Arial"/>
                <a:sym typeface="Arial"/>
              </a:rPr>
              <a:t>Preventive Healthcare Focus</a:t>
            </a:r>
            <a:r>
              <a:rPr b="0" i="0" lang="en-US" sz="1800" u="none" cap="none" strike="noStrike">
                <a:solidFill>
                  <a:srgbClr val="000000"/>
                </a:solidFill>
                <a:latin typeface="Arial"/>
                <a:ea typeface="Arial"/>
                <a:cs typeface="Arial"/>
                <a:sym typeface="Arial"/>
              </a:rPr>
              <a:t> – Goes beyond diet planning to provide disease-specific nutrition advice. </a:t>
            </a:r>
            <a:endParaRPr/>
          </a:p>
          <a:p>
            <a:pPr indent="0" lvl="0" marL="0" marR="0" rtl="0" algn="l">
              <a:lnSpc>
                <a:spcPct val="100000"/>
              </a:lnSpc>
              <a:spcBef>
                <a:spcPts val="0"/>
              </a:spcBef>
              <a:spcAft>
                <a:spcPts val="0"/>
              </a:spcAft>
              <a:buNone/>
            </a:pPr>
            <a:r>
              <a:rPr b="1" i="0" lang="en-US" sz="1800" u="none" cap="none" strike="noStrike">
                <a:solidFill>
                  <a:srgbClr val="000000"/>
                </a:solidFill>
                <a:latin typeface="Arial"/>
                <a:ea typeface="Arial"/>
                <a:cs typeface="Arial"/>
                <a:sym typeface="Arial"/>
              </a:rPr>
              <a:t>Scalable &amp; Enterprise-Ready</a:t>
            </a:r>
            <a:r>
              <a:rPr b="0" i="0" lang="en-US" sz="1800" u="none" cap="none" strike="noStrike">
                <a:solidFill>
                  <a:srgbClr val="000000"/>
                </a:solidFill>
                <a:latin typeface="Arial"/>
                <a:ea typeface="Arial"/>
                <a:cs typeface="Arial"/>
                <a:sym typeface="Arial"/>
              </a:rPr>
              <a:t> – Built on </a:t>
            </a:r>
            <a:r>
              <a:rPr b="1" i="0" lang="en-US" sz="1800" u="none" cap="none" strike="noStrike">
                <a:solidFill>
                  <a:srgbClr val="000000"/>
                </a:solidFill>
                <a:latin typeface="Arial"/>
                <a:ea typeface="Arial"/>
                <a:cs typeface="Arial"/>
                <a:sym typeface="Arial"/>
              </a:rPr>
              <a:t>IBM watsonx.ai</a:t>
            </a:r>
            <a:r>
              <a:rPr b="0" i="0" lang="en-US" sz="1800" u="none" cap="none" strike="noStrike">
                <a:solidFill>
                  <a:srgbClr val="000000"/>
                </a:solidFill>
                <a:latin typeface="Arial"/>
                <a:ea typeface="Arial"/>
                <a:cs typeface="Arial"/>
                <a:sym typeface="Arial"/>
              </a:rPr>
              <a:t> with </a:t>
            </a:r>
            <a:r>
              <a:rPr b="1" i="0" lang="en-US" sz="1800" u="none" cap="none" strike="noStrike">
                <a:solidFill>
                  <a:srgbClr val="000000"/>
                </a:solidFill>
                <a:latin typeface="Arial"/>
                <a:ea typeface="Arial"/>
                <a:cs typeface="Arial"/>
                <a:sym typeface="Arial"/>
              </a:rPr>
              <a:t>IBM Granite models</a:t>
            </a:r>
            <a:r>
              <a:rPr b="0" i="0" lang="en-US" sz="1800" u="none" cap="none" strike="noStrike">
                <a:solidFill>
                  <a:srgbClr val="000000"/>
                </a:solidFill>
                <a:latin typeface="Arial"/>
                <a:ea typeface="Arial"/>
                <a:cs typeface="Arial"/>
                <a:sym typeface="Arial"/>
              </a:rPr>
              <a:t>, ensuring reliability and governance. </a:t>
            </a:r>
            <a:endParaRPr/>
          </a:p>
          <a:p>
            <a:pPr indent="0" lvl="0" marL="0" marR="0" rtl="0" algn="l">
              <a:lnSpc>
                <a:spcPct val="100000"/>
              </a:lnSpc>
              <a:spcBef>
                <a:spcPts val="0"/>
              </a:spcBef>
              <a:spcAft>
                <a:spcPts val="0"/>
              </a:spcAft>
              <a:buNone/>
            </a:pPr>
            <a:r>
              <a:t/>
            </a:r>
            <a:endParaRPr b="0" i="0" sz="18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i="0" lang="en-US" sz="1800" u="none" cap="none" strike="noStrike">
                <a:solidFill>
                  <a:srgbClr val="000000"/>
                </a:solidFill>
                <a:latin typeface="Arial"/>
                <a:ea typeface="Arial"/>
                <a:cs typeface="Arial"/>
                <a:sym typeface="Arial"/>
              </a:rPr>
              <a:t>This makes the solution a </a:t>
            </a:r>
            <a:r>
              <a:rPr b="1" i="0" lang="en-US" sz="1800" u="none" cap="none" strike="noStrike">
                <a:solidFill>
                  <a:srgbClr val="000000"/>
                </a:solidFill>
                <a:latin typeface="Arial"/>
                <a:ea typeface="Arial"/>
                <a:cs typeface="Arial"/>
                <a:sym typeface="Arial"/>
              </a:rPr>
              <a:t>smart, adaptive, and proactive digital nutritionist</a:t>
            </a:r>
            <a:r>
              <a:rPr b="0" i="0" lang="en-US" sz="1800" u="none" cap="none" strike="noStrike">
                <a:solidFill>
                  <a:srgbClr val="000000"/>
                </a:solidFill>
                <a:latin typeface="Arial"/>
                <a:ea typeface="Arial"/>
                <a:cs typeface="Arial"/>
                <a:sym typeface="Arial"/>
              </a:rPr>
              <a:t>, not just a static diet recommendation tool.</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p41"/>
          <p:cNvSpPr/>
          <p:nvPr/>
        </p:nvSpPr>
        <p:spPr>
          <a:xfrm>
            <a:off x="1218724" y="420729"/>
            <a:ext cx="6444496" cy="704017"/>
          </a:xfrm>
          <a:prstGeom prst="rect">
            <a:avLst/>
          </a:prstGeom>
          <a:noFill/>
          <a:ln>
            <a:noFill/>
          </a:ln>
        </p:spPr>
        <p:txBody>
          <a:bodyPr anchorCtr="0" anchor="t" bIns="0" lIns="0" spcFirstLastPara="1" rIns="0" wrap="square" tIns="0">
            <a:noAutofit/>
          </a:bodyPr>
          <a:lstStyle/>
          <a:p>
            <a:pPr indent="0" lvl="0" marL="0" marR="0" rtl="0" algn="l">
              <a:lnSpc>
                <a:spcPct val="157142"/>
              </a:lnSpc>
              <a:spcBef>
                <a:spcPts val="0"/>
              </a:spcBef>
              <a:spcAft>
                <a:spcPts val="0"/>
              </a:spcAft>
              <a:buClr>
                <a:srgbClr val="051D3A"/>
              </a:buClr>
              <a:buSzPts val="3500"/>
              <a:buFont typeface="Times New Roman"/>
              <a:buNone/>
            </a:pPr>
            <a:r>
              <a:rPr b="1" i="0" lang="en-US" sz="2400" u="none" cap="none" strike="noStrike">
                <a:solidFill>
                  <a:srgbClr val="000000"/>
                </a:solidFill>
                <a:latin typeface="Arial"/>
                <a:ea typeface="Arial"/>
                <a:cs typeface="Arial"/>
                <a:sym typeface="Arial"/>
              </a:rPr>
              <a:t>Git Hub Link</a:t>
            </a:r>
            <a:endParaRPr b="1" i="0" sz="2400" u="none" cap="none" strike="noStrike">
              <a:solidFill>
                <a:srgbClr val="000000"/>
              </a:solidFill>
              <a:latin typeface="Arial"/>
              <a:ea typeface="Arial"/>
              <a:cs typeface="Arial"/>
              <a:sym typeface="Arial"/>
            </a:endParaRPr>
          </a:p>
        </p:txBody>
      </p:sp>
      <p:sp>
        <p:nvSpPr>
          <p:cNvPr id="135" name="Google Shape;135;p41"/>
          <p:cNvSpPr/>
          <p:nvPr/>
        </p:nvSpPr>
        <p:spPr>
          <a:xfrm>
            <a:off x="1218724" y="1336716"/>
            <a:ext cx="7468500" cy="765900"/>
          </a:xfrm>
          <a:prstGeom prst="rect">
            <a:avLst/>
          </a:prstGeom>
          <a:noFill/>
          <a:ln>
            <a:noFill/>
          </a:ln>
        </p:spPr>
        <p:txBody>
          <a:bodyPr anchorCtr="0" anchor="t" bIns="0" lIns="0" spcFirstLastPara="1" rIns="0" wrap="square" tIns="0">
            <a:noAutofit/>
          </a:bodyPr>
          <a:lstStyle/>
          <a:p>
            <a:pPr indent="0" lvl="0" marL="0" marR="0" rtl="0" algn="l">
              <a:lnSpc>
                <a:spcPct val="162162"/>
              </a:lnSpc>
              <a:spcBef>
                <a:spcPts val="0"/>
              </a:spcBef>
              <a:spcAft>
                <a:spcPts val="0"/>
              </a:spcAft>
              <a:buClr>
                <a:srgbClr val="2B3541"/>
              </a:buClr>
              <a:buSzPts val="1850"/>
              <a:buFont typeface="Times New Roman"/>
              <a:buNone/>
            </a:pPr>
            <a:r>
              <a:rPr lang="en-US" sz="1850" u="sng">
                <a:solidFill>
                  <a:schemeClr val="hlink"/>
                </a:solidFill>
                <a:latin typeface="Times New Roman"/>
                <a:ea typeface="Times New Roman"/>
                <a:cs typeface="Times New Roman"/>
                <a:sym typeface="Times New Roman"/>
                <a:hlinkClick r:id="rId3"/>
              </a:rPr>
              <a:t>https://github.com/bhadra-unni/AI-powered_Nutrition-agent.git</a:t>
            </a:r>
            <a:endParaRPr sz="1850">
              <a:solidFill>
                <a:srgbClr val="2B3541"/>
              </a:solidFill>
              <a:latin typeface="Times New Roman"/>
              <a:ea typeface="Times New Roman"/>
              <a:cs typeface="Times New Roman"/>
              <a:sym typeface="Times New Roman"/>
            </a:endParaRPr>
          </a:p>
          <a:p>
            <a:pPr indent="0" lvl="0" marL="0" marR="0" rtl="0" algn="l">
              <a:lnSpc>
                <a:spcPct val="162162"/>
              </a:lnSpc>
              <a:spcBef>
                <a:spcPts val="0"/>
              </a:spcBef>
              <a:spcAft>
                <a:spcPts val="0"/>
              </a:spcAft>
              <a:buClr>
                <a:srgbClr val="2B3541"/>
              </a:buClr>
              <a:buSzPts val="1850"/>
              <a:buFont typeface="Times New Roman"/>
              <a:buNone/>
            </a:pPr>
            <a:r>
              <a:t/>
            </a:r>
            <a:endParaRPr sz="1850">
              <a:solidFill>
                <a:srgbClr val="2B3541"/>
              </a:solidFill>
              <a:latin typeface="Times New Roman"/>
              <a:ea typeface="Times New Roman"/>
              <a:cs typeface="Times New Roman"/>
              <a:sym typeface="Times New Roman"/>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sp>
        <p:nvSpPr>
          <p:cNvPr id="140" name="Google Shape;140;p42"/>
          <p:cNvSpPr/>
          <p:nvPr/>
        </p:nvSpPr>
        <p:spPr>
          <a:xfrm>
            <a:off x="1218724" y="420729"/>
            <a:ext cx="6444496" cy="704017"/>
          </a:xfrm>
          <a:prstGeom prst="rect">
            <a:avLst/>
          </a:prstGeom>
          <a:noFill/>
          <a:ln>
            <a:noFill/>
          </a:ln>
        </p:spPr>
        <p:txBody>
          <a:bodyPr anchorCtr="0" anchor="t" bIns="0" lIns="0" spcFirstLastPara="1" rIns="0" wrap="square" tIns="0">
            <a:noAutofit/>
          </a:bodyPr>
          <a:lstStyle/>
          <a:p>
            <a:pPr indent="0" lvl="0" marL="0" marR="0" rtl="0" algn="l">
              <a:lnSpc>
                <a:spcPct val="157142"/>
              </a:lnSpc>
              <a:spcBef>
                <a:spcPts val="0"/>
              </a:spcBef>
              <a:spcAft>
                <a:spcPts val="0"/>
              </a:spcAft>
              <a:buClr>
                <a:srgbClr val="051D3A"/>
              </a:buClr>
              <a:buSzPts val="3500"/>
              <a:buFont typeface="Times New Roman"/>
              <a:buNone/>
            </a:pPr>
            <a:r>
              <a:rPr b="1" i="0" lang="en-US" sz="2400" u="none" cap="none" strike="noStrike">
                <a:solidFill>
                  <a:srgbClr val="000000"/>
                </a:solidFill>
                <a:latin typeface="Arial"/>
                <a:ea typeface="Arial"/>
                <a:cs typeface="Arial"/>
                <a:sym typeface="Arial"/>
              </a:rPr>
              <a:t>Future Scope </a:t>
            </a:r>
            <a:endParaRPr b="1" i="0" sz="2400" u="none" cap="none" strike="noStrike">
              <a:solidFill>
                <a:srgbClr val="000000"/>
              </a:solidFill>
              <a:latin typeface="Arial"/>
              <a:ea typeface="Arial"/>
              <a:cs typeface="Arial"/>
              <a:sym typeface="Arial"/>
            </a:endParaRPr>
          </a:p>
        </p:txBody>
      </p:sp>
      <p:sp>
        <p:nvSpPr>
          <p:cNvPr id="141" name="Google Shape;141;p42"/>
          <p:cNvSpPr/>
          <p:nvPr/>
        </p:nvSpPr>
        <p:spPr>
          <a:xfrm>
            <a:off x="1218724" y="1221715"/>
            <a:ext cx="9214580" cy="4277001"/>
          </a:xfrm>
          <a:prstGeom prst="rect">
            <a:avLst/>
          </a:prstGeom>
          <a:noFill/>
          <a:ln>
            <a:noFill/>
          </a:ln>
        </p:spPr>
        <p:txBody>
          <a:bodyPr anchorCtr="0" anchor="t" bIns="0" lIns="0" spcFirstLastPara="1" rIns="0" wrap="square" tIns="0">
            <a:noAutofit/>
          </a:bodyPr>
          <a:lstStyle/>
          <a:p>
            <a:pPr indent="0" lvl="0" marL="0" marR="0" rtl="0" algn="l">
              <a:lnSpc>
                <a:spcPct val="162162"/>
              </a:lnSpc>
              <a:spcBef>
                <a:spcPts val="0"/>
              </a:spcBef>
              <a:spcAft>
                <a:spcPts val="0"/>
              </a:spcAft>
              <a:buClr>
                <a:srgbClr val="2B3541"/>
              </a:buClr>
              <a:buSzPts val="1850"/>
              <a:buFont typeface="Times New Roman"/>
              <a:buNone/>
            </a:pPr>
            <a:r>
              <a:rPr b="1" i="0" lang="en-US" sz="1850" u="none" cap="none" strike="noStrike">
                <a:solidFill>
                  <a:srgbClr val="2B3541"/>
                </a:solidFill>
                <a:latin typeface="Times New Roman"/>
                <a:ea typeface="Times New Roman"/>
                <a:cs typeface="Times New Roman"/>
                <a:sym typeface="Times New Roman"/>
              </a:rPr>
              <a:t>1.Integration with Wearables &amp; Health Devices – </a:t>
            </a:r>
            <a:endParaRPr/>
          </a:p>
          <a:p>
            <a:pPr indent="0" lvl="0" marL="0" marR="0" rtl="0" algn="l">
              <a:lnSpc>
                <a:spcPct val="162162"/>
              </a:lnSpc>
              <a:spcBef>
                <a:spcPts val="0"/>
              </a:spcBef>
              <a:spcAft>
                <a:spcPts val="0"/>
              </a:spcAft>
              <a:buClr>
                <a:srgbClr val="2B3541"/>
              </a:buClr>
              <a:buSzPts val="1850"/>
              <a:buFont typeface="Times New Roman"/>
              <a:buNone/>
            </a:pPr>
            <a:r>
              <a:rPr b="0" i="0" lang="en-US" sz="1850" u="none" cap="none" strike="noStrike">
                <a:solidFill>
                  <a:srgbClr val="2B3541"/>
                </a:solidFill>
                <a:latin typeface="Times New Roman"/>
                <a:ea typeface="Times New Roman"/>
                <a:cs typeface="Times New Roman"/>
                <a:sym typeface="Times New Roman"/>
              </a:rPr>
              <a:t>The system can be integrated with smartwatches and fitness trackers to collect real-time data such as steps, calories burned, heart rate, and sleep patterns. This will enable the Nutrition Agent to provide more accurate and dynamic diet recommendations based on actual user activity and health metrics.</a:t>
            </a:r>
            <a:endParaRPr/>
          </a:p>
          <a:p>
            <a:pPr indent="0" lvl="0" marL="0" marR="0" rtl="0" algn="l">
              <a:lnSpc>
                <a:spcPct val="162162"/>
              </a:lnSpc>
              <a:spcBef>
                <a:spcPts val="0"/>
              </a:spcBef>
              <a:spcAft>
                <a:spcPts val="0"/>
              </a:spcAft>
              <a:buClr>
                <a:srgbClr val="2B3541"/>
              </a:buClr>
              <a:buSzPts val="1850"/>
              <a:buFont typeface="Times New Roman"/>
              <a:buNone/>
            </a:pPr>
            <a:r>
              <a:rPr b="1" i="0" lang="en-US" sz="1850" u="none" cap="none" strike="noStrike">
                <a:solidFill>
                  <a:srgbClr val="2B3541"/>
                </a:solidFill>
                <a:latin typeface="Times New Roman"/>
                <a:ea typeface="Times New Roman"/>
                <a:cs typeface="Times New Roman"/>
                <a:sym typeface="Times New Roman"/>
              </a:rPr>
              <a:t>2.AI-Powered Voice Assistant &amp; Multilingual Support </a:t>
            </a:r>
            <a:r>
              <a:rPr b="0" i="0" lang="en-US" sz="1850" u="none" cap="none" strike="noStrike">
                <a:solidFill>
                  <a:srgbClr val="2B3541"/>
                </a:solidFill>
                <a:latin typeface="Times New Roman"/>
                <a:ea typeface="Times New Roman"/>
                <a:cs typeface="Times New Roman"/>
                <a:sym typeface="Times New Roman"/>
              </a:rPr>
              <a:t>– </a:t>
            </a:r>
            <a:endParaRPr/>
          </a:p>
          <a:p>
            <a:pPr indent="0" lvl="0" marL="0" marR="0" rtl="0" algn="l">
              <a:lnSpc>
                <a:spcPct val="162162"/>
              </a:lnSpc>
              <a:spcBef>
                <a:spcPts val="0"/>
              </a:spcBef>
              <a:spcAft>
                <a:spcPts val="0"/>
              </a:spcAft>
              <a:buClr>
                <a:srgbClr val="2B3541"/>
              </a:buClr>
              <a:buSzPts val="1850"/>
              <a:buFont typeface="Times New Roman"/>
              <a:buNone/>
            </a:pPr>
            <a:r>
              <a:rPr b="0" i="0" lang="en-US" sz="1850" u="none" cap="none" strike="noStrike">
                <a:solidFill>
                  <a:srgbClr val="2B3541"/>
                </a:solidFill>
                <a:latin typeface="Times New Roman"/>
                <a:ea typeface="Times New Roman"/>
                <a:cs typeface="Times New Roman"/>
                <a:sym typeface="Times New Roman"/>
              </a:rPr>
              <a:t>Enhancing the system with a voice-enabled assistant and support for multiple languages will improve accessibility. Users can interact naturally in their preferred language, making the solution more inclusive and suitable for diverse populations, especially in regions with varied linguistic backgrounds.</a:t>
            </a:r>
            <a:endParaRPr b="0" i="0" sz="1850" u="none" cap="none" strike="noStrike">
              <a:solidFill>
                <a:srgbClr val="000000"/>
              </a:solidFill>
              <a:latin typeface="Times New Roman"/>
              <a:ea typeface="Times New Roman"/>
              <a:cs typeface="Times New Roman"/>
              <a:sym typeface="Times New Roman"/>
            </a:endParaRPr>
          </a:p>
        </p:txBody>
      </p:sp>
      <p:sp>
        <p:nvSpPr>
          <p:cNvPr id="142" name="Google Shape;142;p42"/>
          <p:cNvSpPr/>
          <p:nvPr/>
        </p:nvSpPr>
        <p:spPr>
          <a:xfrm>
            <a:off x="1218724" y="3360216"/>
            <a:ext cx="7468553" cy="766048"/>
          </a:xfrm>
          <a:prstGeom prst="rect">
            <a:avLst/>
          </a:prstGeom>
          <a:noFill/>
          <a:ln>
            <a:noFill/>
          </a:ln>
        </p:spPr>
        <p:txBody>
          <a:bodyPr anchorCtr="0" anchor="t" bIns="0" lIns="0" spcFirstLastPara="1" rIns="0" wrap="square" tIns="0">
            <a:noAutofit/>
          </a:bodyPr>
          <a:lstStyle/>
          <a:p>
            <a:pPr indent="0" lvl="0" marL="0" marR="0" rtl="0" algn="l">
              <a:lnSpc>
                <a:spcPct val="162162"/>
              </a:lnSpc>
              <a:spcBef>
                <a:spcPts val="0"/>
              </a:spcBef>
              <a:spcAft>
                <a:spcPts val="0"/>
              </a:spcAft>
              <a:buClr>
                <a:srgbClr val="2B3541"/>
              </a:buClr>
              <a:buSzPts val="1850"/>
              <a:buFont typeface="Times New Roman"/>
              <a:buNone/>
            </a:pPr>
            <a:r>
              <a:rPr b="0" i="0" lang="en-US" sz="1850" u="none" cap="none" strike="noStrike">
                <a:solidFill>
                  <a:srgbClr val="2B3541"/>
                </a:solidFill>
                <a:latin typeface="Times New Roman"/>
                <a:ea typeface="Times New Roman"/>
                <a:cs typeface="Times New Roman"/>
                <a:sym typeface="Times New Roman"/>
              </a:rPr>
              <a:t>·</a:t>
            </a:r>
            <a:endParaRPr b="0" i="0" sz="1850" u="none" cap="none" strike="noStrike">
              <a:solidFill>
                <a:srgbClr val="000000"/>
              </a:solidFill>
              <a:latin typeface="Times New Roman"/>
              <a:ea typeface="Times New Roman"/>
              <a:cs typeface="Times New Roman"/>
              <a:sym typeface="Times New Roman"/>
            </a:endParaRPr>
          </a:p>
        </p:txBody>
      </p:sp>
      <p:sp>
        <p:nvSpPr>
          <p:cNvPr id="143" name="Google Shape;143;p42"/>
          <p:cNvSpPr/>
          <p:nvPr/>
        </p:nvSpPr>
        <p:spPr>
          <a:xfrm>
            <a:off x="1218724" y="4395464"/>
            <a:ext cx="7468553" cy="766048"/>
          </a:xfrm>
          <a:prstGeom prst="rect">
            <a:avLst/>
          </a:prstGeom>
          <a:noFill/>
          <a:ln>
            <a:noFill/>
          </a:ln>
        </p:spPr>
        <p:txBody>
          <a:bodyPr anchorCtr="0" anchor="t" bIns="0" lIns="0" spcFirstLastPara="1" rIns="0" wrap="square" tIns="0">
            <a:noAutofit/>
          </a:bodyPr>
          <a:lstStyle/>
          <a:p>
            <a:pPr indent="0" lvl="0" marL="0" marR="0" rtl="0" algn="l">
              <a:lnSpc>
                <a:spcPct val="162162"/>
              </a:lnSpc>
              <a:spcBef>
                <a:spcPts val="0"/>
              </a:spcBef>
              <a:spcAft>
                <a:spcPts val="0"/>
              </a:spcAft>
              <a:buClr>
                <a:srgbClr val="2B3541"/>
              </a:buClr>
              <a:buSzPts val="1850"/>
              <a:buFont typeface="Times New Roman"/>
              <a:buNone/>
            </a:pPr>
            <a:r>
              <a:rPr b="0" i="0" lang="en-US" sz="1850" u="none" cap="none" strike="noStrike">
                <a:solidFill>
                  <a:srgbClr val="2B3541"/>
                </a:solidFill>
                <a:latin typeface="Times New Roman"/>
                <a:ea typeface="Times New Roman"/>
                <a:cs typeface="Times New Roman"/>
                <a:sym typeface="Times New Roman"/>
              </a:rPr>
              <a:t>·</a:t>
            </a:r>
            <a:endParaRPr b="0" i="0" sz="1850" u="none" cap="none" strike="noStrike">
              <a:solidFill>
                <a:srgbClr val="000000"/>
              </a:solidFill>
              <a:latin typeface="Times New Roman"/>
              <a:ea typeface="Times New Roman"/>
              <a:cs typeface="Times New Roman"/>
              <a:sym typeface="Times New Roman"/>
            </a:endParaRPr>
          </a:p>
        </p:txBody>
      </p:sp>
      <p:sp>
        <p:nvSpPr>
          <p:cNvPr id="144" name="Google Shape;144;p42"/>
          <p:cNvSpPr/>
          <p:nvPr/>
        </p:nvSpPr>
        <p:spPr>
          <a:xfrm>
            <a:off x="1218724" y="5430713"/>
            <a:ext cx="7468553" cy="383024"/>
          </a:xfrm>
          <a:prstGeom prst="rect">
            <a:avLst/>
          </a:prstGeom>
          <a:noFill/>
          <a:ln>
            <a:noFill/>
          </a:ln>
        </p:spPr>
        <p:txBody>
          <a:bodyPr anchorCtr="0" anchor="t" bIns="0" lIns="0" spcFirstLastPara="1" rIns="0" wrap="square" tIns="0">
            <a:noAutofit/>
          </a:bodyPr>
          <a:lstStyle/>
          <a:p>
            <a:pPr indent="0" lvl="0" marL="0" marR="0" rtl="0" algn="l">
              <a:lnSpc>
                <a:spcPct val="162162"/>
              </a:lnSpc>
              <a:spcBef>
                <a:spcPts val="0"/>
              </a:spcBef>
              <a:spcAft>
                <a:spcPts val="0"/>
              </a:spcAft>
              <a:buClr>
                <a:srgbClr val="2B3541"/>
              </a:buClr>
              <a:buSzPts val="1850"/>
              <a:buFont typeface="Times New Roman"/>
              <a:buNone/>
            </a:pPr>
            <a:r>
              <a:rPr b="0" i="0" lang="en-US" sz="1850" u="none" cap="none" strike="noStrike">
                <a:solidFill>
                  <a:srgbClr val="2B3541"/>
                </a:solidFill>
                <a:latin typeface="Times New Roman"/>
                <a:ea typeface="Times New Roman"/>
                <a:cs typeface="Times New Roman"/>
                <a:sym typeface="Times New Roman"/>
              </a:rPr>
              <a:t>·</a:t>
            </a:r>
            <a:endParaRPr b="0" i="0" sz="1850" u="none" cap="none" strike="noStrike">
              <a:solidFill>
                <a:srgbClr val="000000"/>
              </a:solidFill>
              <a:latin typeface="Times New Roman"/>
              <a:ea typeface="Times New Roman"/>
              <a:cs typeface="Times New Roman"/>
              <a:sym typeface="Times New Roman"/>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 name="Shape 148"/>
        <p:cNvGrpSpPr/>
        <p:nvPr/>
      </p:nvGrpSpPr>
      <p:grpSpPr>
        <a:xfrm>
          <a:off x="0" y="0"/>
          <a:ext cx="0" cy="0"/>
          <a:chOff x="0" y="0"/>
          <a:chExt cx="0" cy="0"/>
        </a:xfrm>
      </p:grpSpPr>
      <p:sp>
        <p:nvSpPr>
          <p:cNvPr id="149" name="Google Shape;149;p43"/>
          <p:cNvSpPr txBox="1"/>
          <p:nvPr/>
        </p:nvSpPr>
        <p:spPr>
          <a:xfrm>
            <a:off x="327949" y="207380"/>
            <a:ext cx="6096000" cy="67710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2400" u="none" cap="none" strike="noStrike">
                <a:solidFill>
                  <a:srgbClr val="000000"/>
                </a:solidFill>
                <a:latin typeface="Arial"/>
                <a:ea typeface="Arial"/>
                <a:cs typeface="Arial"/>
                <a:sym typeface="Arial"/>
              </a:rPr>
              <a:t>Certificates Earned:</a:t>
            </a:r>
            <a:endParaRPr/>
          </a:p>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50" name="Google Shape;150;p43"/>
          <p:cNvSpPr txBox="1"/>
          <p:nvPr/>
        </p:nvSpPr>
        <p:spPr>
          <a:xfrm>
            <a:off x="552048" y="690061"/>
            <a:ext cx="6390000" cy="307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t/>
            </a:r>
            <a:endParaRPr/>
          </a:p>
        </p:txBody>
      </p:sp>
      <p:pic>
        <p:nvPicPr>
          <p:cNvPr id="151" name="Google Shape;151;p43" title="Screenshot 2026-07-11 142232.png"/>
          <p:cNvPicPr preferRelativeResize="0"/>
          <p:nvPr/>
        </p:nvPicPr>
        <p:blipFill rotWithShape="1">
          <a:blip r:embed="rId3">
            <a:alphaModFix/>
          </a:blip>
          <a:srcRect b="0" l="10" r="10" t="0"/>
          <a:stretch/>
        </p:blipFill>
        <p:spPr>
          <a:xfrm>
            <a:off x="2335728" y="1212767"/>
            <a:ext cx="7075218" cy="530926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pic>
        <p:nvPicPr>
          <p:cNvPr id="156" name="Google Shape;156;p44" title="Screenshot 2026-07-11 141030.png"/>
          <p:cNvPicPr preferRelativeResize="0"/>
          <p:nvPr/>
        </p:nvPicPr>
        <p:blipFill rotWithShape="1">
          <a:blip r:embed="rId3">
            <a:alphaModFix/>
          </a:blip>
          <a:srcRect b="0" l="2435" r="2435" t="0"/>
          <a:stretch/>
        </p:blipFill>
        <p:spPr>
          <a:xfrm>
            <a:off x="2512736" y="1712637"/>
            <a:ext cx="7177553" cy="4658577"/>
          </a:xfrm>
          <a:prstGeom prst="rect">
            <a:avLst/>
          </a:prstGeom>
          <a:noFill/>
          <a:ln>
            <a:noFill/>
          </a:ln>
        </p:spPr>
      </p:pic>
      <p:sp>
        <p:nvSpPr>
          <p:cNvPr id="157" name="Google Shape;157;p44"/>
          <p:cNvSpPr txBox="1"/>
          <p:nvPr/>
        </p:nvSpPr>
        <p:spPr>
          <a:xfrm>
            <a:off x="176696" y="226391"/>
            <a:ext cx="6096000" cy="67710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2400" u="none" cap="none" strike="noStrike">
                <a:solidFill>
                  <a:srgbClr val="000000"/>
                </a:solidFill>
                <a:latin typeface="Arial"/>
                <a:ea typeface="Arial"/>
                <a:cs typeface="Arial"/>
                <a:sym typeface="Arial"/>
              </a:rPr>
              <a:t>Certificates Earned:</a:t>
            </a:r>
            <a:r>
              <a:rPr b="0" i="0" lang="en-US" sz="2400" u="none" cap="none" strike="noStrike">
                <a:solidFill>
                  <a:srgbClr val="000000"/>
                </a:solidFill>
                <a:latin typeface="Arial"/>
                <a:ea typeface="Arial"/>
                <a:cs typeface="Arial"/>
                <a:sym typeface="Arial"/>
              </a:rPr>
              <a:t>​</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 name="Shape 161"/>
        <p:cNvGrpSpPr/>
        <p:nvPr/>
      </p:nvGrpSpPr>
      <p:grpSpPr>
        <a:xfrm>
          <a:off x="0" y="0"/>
          <a:ext cx="0" cy="0"/>
          <a:chOff x="0" y="0"/>
          <a:chExt cx="0" cy="0"/>
        </a:xfrm>
      </p:grpSpPr>
      <p:pic>
        <p:nvPicPr>
          <p:cNvPr id="162" name="Google Shape;162;p20"/>
          <p:cNvPicPr preferRelativeResize="0"/>
          <p:nvPr/>
        </p:nvPicPr>
        <p:blipFill rotWithShape="1">
          <a:blip r:embed="rId3">
            <a:alphaModFix/>
          </a:blip>
          <a:srcRect b="0" l="0" r="0" t="0"/>
          <a:stretch/>
        </p:blipFill>
        <p:spPr>
          <a:xfrm>
            <a:off x="0" y="2190302"/>
            <a:ext cx="12192000" cy="2477396"/>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2025-07-08T05:06:56Z</dcterms:created>
  <dc:creator>Manda Anirudh</dc:creator>
</cp:coreProperties>
</file>